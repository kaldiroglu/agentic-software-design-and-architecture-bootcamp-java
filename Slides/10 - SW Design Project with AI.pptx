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2D3EE"/>
                </a:solidFill>
                <a:latin typeface="Helvetica Neue"/>
              </a:rPr>
              <a:t>Module 10 · SW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71600"/>
            <a:ext cx="14630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78308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Helvetica Neue"/>
              </a:rPr>
              <a:t>SW Design Project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Helvetica Neue"/>
              </a:rPr>
              <a:t>with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79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 i="1">
                <a:solidFill>
                  <a:srgbClr val="F1F5F9"/>
                </a:solidFill>
                <a:latin typeface="Helvetica Neue"/>
              </a:rPr>
              <a:t>Everything from Phase 1, applied — build a real feature with Claude Code.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Helvetica Neue"/>
              </a:rPr>
              <a:t>Akın Kaldıroğlu  ·  Lead Trainer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The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Build Something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475569"/>
                </a:solidFill>
                <a:latin typeface="Helvetica Neue"/>
              </a:rPr>
              <a:t>No new theory today. You'll take a small business problem from empty folder to tested, clean, well-designed code — with an AI agent as your pair.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00400"/>
            <a:ext cx="3334512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15568" y="3493008"/>
            <a:ext cx="45720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712464"/>
            <a:ext cx="2749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F172A"/>
                </a:solidFill>
                <a:latin typeface="Helvetica Neue"/>
              </a:rPr>
              <a:t>Design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315968"/>
            <a:ext cx="2749295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75569"/>
                </a:solidFill>
                <a:latin typeface="Helvetica Neue"/>
              </a:rPr>
              <a:t>Decide the shape before you generate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3504" y="3200400"/>
            <a:ext cx="3334512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6112" y="3493008"/>
            <a:ext cx="45720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6112" y="3712464"/>
            <a:ext cx="2749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F172A"/>
                </a:solidFill>
                <a:latin typeface="Helvetica Neue"/>
              </a:rPr>
              <a:t>Build with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6112" y="4315968"/>
            <a:ext cx="2749295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75569"/>
                </a:solidFill>
                <a:latin typeface="Helvetica Neue"/>
              </a:rPr>
              <a:t>Direct Claude Code through the workflow you learned.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4048" y="3200400"/>
            <a:ext cx="3334512" cy="2286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96656" y="3493008"/>
            <a:ext cx="45720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6656" y="3712464"/>
            <a:ext cx="2749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F172A"/>
                </a:solidFill>
                <a:latin typeface="Helvetica Neue"/>
              </a:rPr>
              <a:t>Hold the 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6656" y="4315968"/>
            <a:ext cx="2749295" cy="10332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75569"/>
                </a:solidFill>
                <a:latin typeface="Helvetica Neue"/>
              </a:rPr>
              <a:t>Cohesion, coupling, SOLID, clean, secure, 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By the end of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What You'll Produce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200"/>
              </a:spcAft>
            </a:pPr>
            <a:r>
              <a:rPr sz="22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2200" b="0" i="0">
                <a:solidFill>
                  <a:srgbClr val="0F172A"/>
                </a:solidFill>
                <a:latin typeface="Helvetica Neue"/>
              </a:rPr>
              <a:t>A working solution to the business problem, on GitHub.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200"/>
              </a:spcAft>
            </a:pPr>
            <a:r>
              <a:rPr sz="22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2200" b="0" i="0">
                <a:solidFill>
                  <a:srgbClr val="0F172A"/>
                </a:solidFill>
                <a:latin typeface="Helvetica Neue"/>
              </a:rPr>
              <a:t>A short design rationale — why this structure, these boundaries.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200"/>
              </a:spcAft>
            </a:pPr>
            <a:r>
              <a:rPr sz="22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2200" b="0" i="0">
                <a:solidFill>
                  <a:srgbClr val="0F172A"/>
                </a:solidFill>
                <a:latin typeface="Helvetica Neue"/>
              </a:rPr>
              <a:t>Unit tests for the core logic, and honest error handling.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200"/>
              </a:spcAft>
            </a:pPr>
            <a:r>
              <a:rPr sz="22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2200" b="0" i="0">
                <a:solidFill>
                  <a:srgbClr val="0F172A"/>
                </a:solidFill>
                <a:latin typeface="Helvetica Neue"/>
              </a:rPr>
              <a:t>Experience directing an agent instead of hand-typing everything.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366F1"/>
                </a:solidFill>
                <a:latin typeface="Helvetica Neue"/>
              </a:rPr>
              <a:t>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74320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The 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1">
                <a:solidFill>
                  <a:srgbClr val="CBD5E1"/>
                </a:solidFill>
                <a:latin typeface="Helvetica Neue"/>
              </a:rPr>
              <a:t>Small enough to finish; rich enough to design.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A Library Loan Service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548640"/>
            <a:ext cx="597103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Helvetica Neue"/>
              </a:rPr>
              <a:t>▶ runnable  </a:t>
            </a:r>
            <a:r>
              <a:rPr sz="1100" b="0" i="0">
                <a:solidFill>
                  <a:srgbClr val="64748B"/>
                </a:solidFill>
                <a:latin typeface="Menlo"/>
              </a:rPr>
              <a:t>dev.kaldiroglu.bootcamp.project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475569"/>
                </a:solidFill>
                <a:latin typeface="Helvetica Neue"/>
              </a:rPr>
              <a:t>Build the core of a small library system. Keep it focused — the design is the point, not the feature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Members can borrow and return books; each book has limited copies.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A member may hold at most 5 loans at once; loans have a due date.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Returning frees the copy — the next member can borrow it right away.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Expose the operations behind a small, clean service 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The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Your Design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5029200" cy="3063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246120"/>
            <a:ext cx="45720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472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F172A"/>
                </a:solidFill>
                <a:latin typeface="Helvetica Neue"/>
              </a:rPr>
              <a:t>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69080"/>
            <a:ext cx="44805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Entities: Book, Copy, Member, Loan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Loan rules isolated behind a boundary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Values: Money, Isbn — validated once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Depend on a Repository abstraction (DIP)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926080"/>
            <a:ext cx="5257800" cy="3063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246120"/>
            <a:ext cx="45720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472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754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0B98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Clean names &amp; small functions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0B98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Validated input; honest errors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0B98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Unit tests for the loan rules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9E0B"/>
                </a:solidFill>
                <a:latin typeface="Helvetica Neue"/>
              </a:rPr>
              <a:t>How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743200"/>
            <a:ext cx="10789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Helvetica Neue"/>
              </a:rPr>
              <a:t>Direct the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1">
                <a:solidFill>
                  <a:srgbClr val="CBD5E1"/>
                </a:solidFill>
                <a:latin typeface="Helvetica Neue"/>
              </a:rPr>
              <a:t>Apply the intent → plan → build → review loop.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Helvetica Neue"/>
              </a:rPr>
              <a:t>How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Follow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128016" cy="7498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Helvetica Neue"/>
              </a:rPr>
              <a:t>1 · Brainstorm the design with the agent — agree it before coding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862072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2862072"/>
            <a:ext cx="128016" cy="7498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862072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Helvetica Neue"/>
              </a:rPr>
              <a:t>2 · Build one slice at a time — a rule, a test, a repository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58183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758183"/>
            <a:ext cx="128016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758183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Helvetica Neue"/>
              </a:rPr>
              <a:t>3 · Review each slice with your design vocabulary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654296"/>
            <a:ext cx="10515600" cy="749808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654296"/>
            <a:ext cx="128016" cy="7498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654296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Helvetica Neue"/>
              </a:rPr>
              <a:t>4 · Refactor with tests green; commit small and often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4748B"/>
                </a:solidFill>
                <a:latin typeface="Helvetica Neue"/>
              </a:rPr>
              <a:t>Small, reviewable steps beat one giant prompt — every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Helvetica Neue"/>
              </a:rPr>
              <a:t>How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Prompting Tips for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F59E0B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Give the agent the brief and your standards up front.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F59E0B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Ask for the design and boundaries before any implementation.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F59E0B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Name the kind and the pattern: 'Money is a value object', 'fines are a policy'.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F59E0B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Make it write tests with the code — and run them each loop.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Helvetica Neue"/>
              </a:rPr>
              <a:t>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How We Run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26080"/>
            <a:ext cx="5029200" cy="3063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246120"/>
            <a:ext cx="45720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4472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F172A"/>
                </a:solidFill>
                <a:latin typeface="Helvetica Neue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069080"/>
            <a:ext cx="44805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0B98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Any group size — solo or a team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0B98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One shared GitHub repository per group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10B98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Commit small, commit often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926080"/>
            <a:ext cx="5257800" cy="3063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246120"/>
            <a:ext cx="45720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472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Timebox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069080"/>
            <a:ext cx="4754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Design &amp; agree the shape — first hour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Build in slices — the middle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6366F1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Polish, test &amp; write your rationale — last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Helvetica Neue"/>
              </a:rPr>
              <a:t>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What 'Good'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3334512" cy="2468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5568" y="3401568"/>
            <a:ext cx="45720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621024"/>
            <a:ext cx="2749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F172A"/>
                </a:solidFill>
                <a:latin typeface="Helvetica Neue"/>
              </a:rP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4224528"/>
            <a:ext cx="2749295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75569"/>
                </a:solidFill>
                <a:latin typeface="Helvetica Neue"/>
              </a:rPr>
              <a:t>Clear boundaries, high cohesion, low coupling, SOLID applied.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3504" y="3108960"/>
            <a:ext cx="3334512" cy="2468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6112" y="3401568"/>
            <a:ext cx="457200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6112" y="3621024"/>
            <a:ext cx="2749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F172A"/>
                </a:solidFill>
                <a:latin typeface="Helvetica Neue"/>
              </a:rPr>
              <a:t>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6112" y="4224528"/>
            <a:ext cx="2749295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75569"/>
                </a:solidFill>
                <a:latin typeface="Helvetica Neue"/>
              </a:rPr>
              <a:t>Clean, tested, secure — and it actually runs.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4048" y="3108960"/>
            <a:ext cx="3334512" cy="2468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6656" y="3401568"/>
            <a:ext cx="45720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6656" y="3621024"/>
            <a:ext cx="2749295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F172A"/>
                </a:solidFill>
                <a:latin typeface="Helvetica Neue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6656" y="4224528"/>
            <a:ext cx="2749295" cy="1216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475569"/>
                </a:solidFill>
                <a:latin typeface="Helvetica Neue"/>
              </a:rPr>
              <a:t>Evidence you directed the AI: small commits, a clear rationale.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3F5E"/>
                </a:solidFill>
                <a:latin typeface="Helvetica Neue"/>
              </a:rPr>
              <a:t>Watch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Common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5156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Letting the agent generate everything before you've agreed a design.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Accepting code you can't explain — if you can't review it, don't keep it.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Skipping tests 'to save time' — they're what makes AI code trustworthy.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</a:pPr>
            <a:r>
              <a:rPr sz="20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2000" b="0" i="0">
                <a:solidFill>
                  <a:srgbClr val="0F172A"/>
                </a:solidFill>
                <a:latin typeface="Helvetica Neue"/>
              </a:rPr>
              <a:t>Gold-plating: adding patterns the problem doesn't need.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Run it yourself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The Code Behind This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475569"/>
                </a:solidFill>
                <a:latin typeface="Helvetica Neue"/>
              </a:rPr>
              <a:t>Every example in this session compiles and runs — the same lessons in three languages, with the smell and the fix sitting side by side: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3328416" cy="2377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286000"/>
            <a:ext cx="3328416" cy="8229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50592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6366F1"/>
                </a:solidFill>
                <a:latin typeface="Helvetica Neue"/>
              </a:rPr>
              <a:t>Java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743200"/>
            <a:ext cx="292608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4748B"/>
                </a:solidFill>
                <a:latin typeface="Helvetica Neue"/>
              </a:rPr>
              <a:t>Maven · JUnit 5 · 5 tests 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3090672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F172A"/>
                </a:solidFill>
                <a:latin typeface="Menlo"/>
              </a:rPr>
              <a:t>project/LoanService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291840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475569"/>
                </a:solidFill>
                <a:latin typeface="Helvetica Neue"/>
              </a:rPr>
              <a:t>the borrow / return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575304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F172A"/>
                </a:solidFill>
                <a:latin typeface="Menlo"/>
              </a:rPr>
              <a:t>project/Loan · 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776472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475569"/>
                </a:solidFill>
                <a:latin typeface="Helvetica Neue"/>
              </a:rPr>
              <a:t>the model the rules act 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4059936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F172A"/>
                </a:solidFill>
                <a:latin typeface="Menlo"/>
              </a:rPr>
              <a:t>project/LoanRepository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261104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475569"/>
                </a:solidFill>
                <a:latin typeface="Helvetica Neue"/>
              </a:rPr>
              <a:t>a port, with an in-memory adapter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2286000"/>
            <a:ext cx="3328416" cy="2377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16552" y="2286000"/>
            <a:ext cx="3328416" cy="8229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4" y="2450592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22D3EE"/>
                </a:solidFill>
                <a:latin typeface="Helvetica Neue"/>
              </a:rPr>
              <a:t>C# / .NET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72584" y="2743200"/>
            <a:ext cx="292608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4748B"/>
                </a:solidFill>
                <a:latin typeface="Helvetica Neue"/>
              </a:rPr>
              <a:t>xUnit · 5 tests here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2584" y="3090672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F172A"/>
                </a:solidFill>
                <a:latin typeface="Menlo"/>
              </a:rPr>
              <a:t>Project.cs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3291840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475569"/>
                </a:solidFill>
                <a:latin typeface="Helvetica Neue"/>
              </a:rPr>
              <a:t>the Library Loan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3575304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F172A"/>
                </a:solidFill>
                <a:latin typeface="Menlo"/>
              </a:rPr>
              <a:t>ProjectTests.cs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72584" y="3776472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475569"/>
                </a:solidFill>
                <a:latin typeface="Helvetica Neue"/>
              </a:rPr>
              <a:t>limit · availability · unknown book · return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2286000"/>
            <a:ext cx="3328416" cy="23774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0144" y="2286000"/>
            <a:ext cx="3328416" cy="822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5" y="2450592"/>
            <a:ext cx="283464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F59E0B"/>
                </a:solidFill>
                <a:latin typeface="Helvetica Neue"/>
              </a:rPr>
              <a:t>Python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5" y="2743200"/>
            <a:ext cx="292608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64748B"/>
                </a:solidFill>
                <a:latin typeface="Helvetica Neue"/>
              </a:rPr>
              <a:t>pytest · 5 tests here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6175" y="3090672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F172A"/>
                </a:solidFill>
                <a:latin typeface="Menlo"/>
              </a:rPr>
              <a:t>project.py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5" y="3291840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475569"/>
                </a:solidFill>
                <a:latin typeface="Helvetica Neue"/>
              </a:rPr>
              <a:t>the Library Loan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6175" y="3575304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0F172A"/>
                </a:solidFill>
                <a:latin typeface="Menlo"/>
              </a:rPr>
              <a:t>tests/test_project.py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3776472"/>
            <a:ext cx="29260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1">
                <a:solidFill>
                  <a:srgbClr val="475569"/>
                </a:solidFill>
                <a:latin typeface="Helvetica Neue"/>
              </a:rPr>
              <a:t>the same four rules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892040"/>
            <a:ext cx="1051560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366F1"/>
                </a:solidFill>
                <a:latin typeface="Menlo"/>
              </a:rPr>
              <a:t>github.com/kaldiroglu/Agentic-Software-Design-and-Architecture-Bootcamp-</a:t>
            </a:r>
            <a:r>
              <a:rPr sz="1300" b="1" i="0">
                <a:solidFill>
                  <a:srgbClr val="6366F1"/>
                </a:solidFill>
                <a:latin typeface="Menlo"/>
              </a:rPr>
              <a:t>JAVA · -DOTNET · -PYTHON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72A"/>
                </a:solidFill>
                <a:latin typeface="Helvetica Neue"/>
              </a:rPr>
              <a:t>This is today's core, not the graded project. </a:t>
            </a:r>
            <a:r>
              <a:rPr sz="1550" b="0" i="0">
                <a:solidFill>
                  <a:srgbClr val="475569"/>
                </a:solidFill>
                <a:latin typeface="Helvetica Neue"/>
              </a:rPr>
              <a:t>The project extends it — and its loan limit is a constant, its due date a parameter. Both have to go.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64748B"/>
                </a:solidFill>
                <a:latin typeface="Helvetica Neue"/>
              </a:rPr>
              <a:t>Clone one, run the suite, then break something and watch which test goes red. </a:t>
            </a:r>
            <a:r>
              <a:rPr sz="1300" b="1" i="1">
                <a:solidFill>
                  <a:srgbClr val="64748B"/>
                </a:solidFill>
                <a:latin typeface="Helvetica Neue"/>
              </a:rPr>
              <a:t>Across all chapters the suites are 62 · 55 · 56 tests.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2D3EE"/>
                </a:solidFill>
                <a:latin typeface="Helvetica Neue"/>
              </a:rPr>
              <a:t>Your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What You're Already Given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548640"/>
            <a:ext cx="5971032" cy="32918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366F1"/>
                </a:solidFill>
                <a:latin typeface="Helvetica Neue"/>
              </a:rPr>
              <a:t>▶ runnable  </a:t>
            </a:r>
            <a:r>
              <a:rPr sz="1100" b="0" i="0">
                <a:solidFill>
                  <a:srgbClr val="64748B"/>
                </a:solidFill>
                <a:latin typeface="Menlo"/>
              </a:rPr>
              <a:t>dev.kaldiroglu.bootcamp.project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475569"/>
                </a:solidFill>
                <a:latin typeface="Helvetica Neue"/>
              </a:rPr>
              <a:t>Today's core ships in all three companion repos. Clone it, run its five tests, and read those tests first — they say what the code actually promises.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5029200" cy="306324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3246120"/>
            <a:ext cx="457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472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F172A"/>
                </a:solidFill>
                <a:latin typeface="Helvetica Neue"/>
              </a:rPr>
              <a:t>In the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069080"/>
            <a:ext cx="44805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2D3E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Book · Loan — the model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2D3E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LoanService — borrow, return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2D3E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LoanRepository — a port + adapter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2D3E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Named exceptions · 5 green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2926080"/>
            <a:ext cx="5257800" cy="306324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246120"/>
            <a:ext cx="457200" cy="10972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4472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Not in the box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069080"/>
            <a:ext cx="4754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Member, tiers, reservations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Fines — no notion of them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A notifier — nothing tells anyone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Any policy you can swap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Helvetica Neue"/>
              </a:rPr>
              <a:t>Your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What You Must Build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65960"/>
          <a:ext cx="10515600" cy="3904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846320"/>
                <a:gridCol w="283464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Rule</a:t>
                      </a:r>
                    </a:p>
                  </a:txBody>
                  <a:tcPr anchor="ctr" marL="13716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The decision it forces</a:t>
                      </a:r>
                    </a:p>
                  </a:txBody>
                  <a:tcPr anchor="ctr" marL="13716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A surface to own</a:t>
                      </a:r>
                    </a:p>
                  </a:txBody>
                  <a:tcPr anchor="ctr" marL="137160" marT="27432" marB="27432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R1 · Borrow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The due date comes from the member's tier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Loans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R2 · Loan limit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The tier's maximum, not a constant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Loans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R3 · No copies → reserve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A failed borrow becomes a queue entry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Reservations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R4 · Return &amp; hand-off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Free, price, notify, hold — one call, many jobs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Reservations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R5 · Overdue fine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A policy you can swap without touching return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Fines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R6 · Cancel reservation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The queue closes up behind the leaver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Reservations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9E0B"/>
                </a:solidFill>
                <a:latin typeface="Helvetica Neue"/>
              </a:rPr>
              <a:t>Your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What You Must Build, continued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16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22960" y="1965960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846320"/>
                <a:gridCol w="2834640"/>
              </a:tblGrid>
              <a:tr h="5029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Rule</a:t>
                      </a:r>
                    </a:p>
                  </a:txBody>
                  <a:tcPr anchor="ctr" marL="13716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The decision it forces</a:t>
                      </a:r>
                    </a:p>
                  </a:txBody>
                  <a:tcPr anchor="ctr" marL="137160"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</a:rPr>
                        <a:t>A surface to own</a:t>
                      </a:r>
                    </a:p>
                  </a:txBody>
                  <a:tcPr anchor="ctr" marL="137160" marT="27432" marB="27432">
                    <a:solidFill>
                      <a:srgbClr val="0F172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R7 · Renew a loan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Refused if anyone is waiting; the tier caps it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Loans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R8 · Holds expire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'Now' becomes explicit — you can't trust today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Reservations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R9 · Fines block borrowing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A second policy, consulted by borrowing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Fines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R10 · Catalogue admin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Withdrawing a copy on loan must fail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Catalogue</a:t>
                      </a:r>
                    </a:p>
                  </a:txBody>
                  <a:tcPr anchor="ctr" marL="137160" marT="36576" marB="36576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9E0B"/>
                          </a:solidFill>
                          <a:latin typeface="Helvetica Neue"/>
                        </a:rPr>
                        <a:t>R11 · Activity log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Every action through a port you own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75569"/>
                          </a:solidFill>
                          <a:latin typeface="Helvetica Neue"/>
                        </a:rPr>
                        <a:t>Cross-cutting</a:t>
                      </a:r>
                    </a:p>
                  </a:txBody>
                  <a:tcPr anchor="ctr" marL="137160" marT="36576" marB="36576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553212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72A"/>
                </a:solidFill>
                <a:latin typeface="Helvetica Neue"/>
              </a:rPr>
              <a:t>Eleven rules, five surfaces. </a:t>
            </a:r>
            <a:r>
              <a:rPr sz="1500" b="0" i="0">
                <a:solidFill>
                  <a:srgbClr val="64748B"/>
                </a:solidFill>
                <a:latin typeface="Helvetica Neue"/>
              </a:rPr>
              <a:t>A surface is something one person can own end to end — that is how a team splits this without five people editing one class.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43F5E"/>
                </a:solidFill>
                <a:latin typeface="Helvetica Neue"/>
              </a:rPr>
              <a:t>Your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Out of Scope — Deliberately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475569"/>
                </a:solidFill>
                <a:latin typeface="Helvetica Neue"/>
              </a:rPr>
              <a:t>The domain is the whole deliverable. Everything outside it is a port you own, with an in-memory implementation behind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926080"/>
            <a:ext cx="5029200" cy="29260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246120"/>
            <a:ext cx="457200" cy="109728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44728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0F172A"/>
                </a:solidFill>
                <a:latin typeface="Helvetica Neue"/>
              </a:rPr>
              <a:t>Not in this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069080"/>
            <a:ext cx="44805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No UI — none, of any kind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No controller, no REST, no HTTP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No database, no ORM, no SQL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F43F5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0F172A"/>
                </a:solidFill>
                <a:latin typeface="Helvetica Neue"/>
              </a:rPr>
              <a:t>No framework — plain classes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926080"/>
            <a:ext cx="5257800" cy="2926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3246120"/>
            <a:ext cx="45720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4472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Helvetica Neue"/>
              </a:rPr>
              <a:t>Your only outside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69080"/>
            <a:ext cx="475488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2D3E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Repository — where loans live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2D3E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Notifier — telling a reserver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2D3E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Activity log — what happened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22D3EE"/>
                </a:solidFill>
                <a:latin typeface="Helvetica Neue"/>
              </a:rPr>
              <a:t>—  </a:t>
            </a:r>
            <a:r>
              <a:rPr sz="1700" b="0" i="0">
                <a:solidFill>
                  <a:srgbClr val="F1F5F9"/>
                </a:solidFill>
                <a:latin typeface="Helvetica Neue"/>
              </a:rPr>
              <a:t>Clock — how you know 'today'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9436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4748B"/>
                </a:solidFill>
                <a:latin typeface="Helvetica Neue"/>
              </a:rPr>
              <a:t>A main() that calls the service is demo enough — or just the test suite.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Your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Extend It, or Start Clean?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475569"/>
                </a:solidFill>
                <a:latin typeface="Helvetica Neue"/>
              </a:rPr>
              <a:t>Start from the lecture code or from an empty folder — both are graded the same. Either way, four things in today's core cannot survive the brief: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97480"/>
            <a:ext cx="10515600" cy="69494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97480"/>
            <a:ext cx="128016" cy="694944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97480"/>
            <a:ext cx="10058400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Helvetica Neue"/>
              </a:rPr>
              <a:t>The loan limit is a constant — it belongs to the tier, not to LoanService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02152"/>
            <a:ext cx="10515600" cy="69494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502152"/>
            <a:ext cx="128016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502152"/>
            <a:ext cx="10058400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Helvetica Neue"/>
              </a:rPr>
              <a:t>The due date is a parameter — the domain must derive it, so where does 'today' come from?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06824"/>
            <a:ext cx="10515600" cy="69494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306824"/>
            <a:ext cx="128016" cy="69494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306824"/>
            <a:ext cx="10058400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Helvetica Neue"/>
              </a:rPr>
              <a:t>returnBook() is one line — it becomes fine, queue, hold and notify. What stays out?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11496"/>
            <a:ext cx="10515600" cy="694944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5111496"/>
            <a:ext cx="128016" cy="69494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111496"/>
            <a:ext cx="10058400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72A"/>
                </a:solidFill>
                <a:latin typeface="Helvetica Neue"/>
              </a:rPr>
              <a:t>Availability is two counts — a held copy is a third state the model can't express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4748B"/>
                </a:solidFill>
                <a:latin typeface="Helvetica Neue"/>
              </a:rPr>
              <a:t>Growing the lecture class without revisiting the model is the failure mode we look for first.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Your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Build It — and Get Graded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1">
                <a:solidFill>
                  <a:srgbClr val="475569"/>
                </a:solidFill>
                <a:latin typeface="Helvetica Neue"/>
              </a:rPr>
              <a:t>Today you build the core; the graded project extends it with membership tiers, swappable fines, and reservations. Read the rubric before you start.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514600"/>
            <a:ext cx="10515600" cy="27889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2788920"/>
            <a:ext cx="457200" cy="1097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990088"/>
            <a:ext cx="9875520" cy="41148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0F172A"/>
                </a:solidFill>
                <a:latin typeface="Helvetica Neue"/>
              </a:rPr>
              <a:t>Project 10 — Library Loan Service (extended)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502152"/>
            <a:ext cx="987552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366F1"/>
                </a:solidFill>
                <a:latin typeface="Helvetica Neue"/>
              </a:rPr>
              <a:t>Brief  </a:t>
            </a:r>
            <a:r>
              <a:rPr sz="1450" b="0" i="0">
                <a:solidFill>
                  <a:srgbClr val="475569"/>
                </a:solidFill>
                <a:latin typeface="Menlo"/>
              </a:rPr>
              <a:t>Project-10-Evaluation/PROJECT-BRIEF.md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59352"/>
            <a:ext cx="9875520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366F1"/>
                </a:solidFill>
                <a:latin typeface="Helvetica Neue"/>
              </a:rPr>
              <a:t>Rubric  </a:t>
            </a:r>
            <a:r>
              <a:rPr sz="1450" b="0" i="0">
                <a:solidFill>
                  <a:srgbClr val="475569"/>
                </a:solidFill>
                <a:latin typeface="Menlo"/>
              </a:rPr>
              <a:t>Project-10-Evaluation/RUBRIC.md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471416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 i="0">
                <a:solidFill>
                  <a:srgbClr val="6366F1"/>
                </a:solidFill>
                <a:latin typeface="Helvetica Neue"/>
              </a:rPr>
              <a:t>IN THIS SESSION, LOOK 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782312"/>
            <a:ext cx="987552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6366F1"/>
                </a:solidFill>
                <a:latin typeface="Helvetica Neue"/>
              </a:rPr>
              <a:t>▸  </a:t>
            </a:r>
            <a:r>
              <a:rPr sz="1350" b="0" i="0">
                <a:solidFill>
                  <a:srgbClr val="475569"/>
                </a:solidFill>
                <a:latin typeface="Menlo"/>
              </a:rPr>
              <a:t>graded on design first (see the rubric bands)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093207"/>
            <a:ext cx="9875520" cy="29260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6366F1"/>
                </a:solidFill>
                <a:latin typeface="Helvetica Neue"/>
              </a:rPr>
              <a:t>▸  </a:t>
            </a:r>
            <a:r>
              <a:rPr sz="1350" b="0" i="0">
                <a:solidFill>
                  <a:srgbClr val="475569"/>
                </a:solidFill>
                <a:latin typeface="Menlo"/>
              </a:rPr>
              <a:t>extra practice: the ACME Orders refactoring capstone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B981"/>
                </a:solidFill>
                <a:latin typeface="Helvetica Neue"/>
              </a:rPr>
              <a:t>Remember these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965960"/>
            <a:ext cx="109728" cy="7132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0B981"/>
                </a:solidFill>
                <a:latin typeface="Helvetica Neue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965960"/>
            <a:ext cx="9326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0F172A"/>
                </a:solidFill>
                <a:latin typeface="Helvetica Neue"/>
              </a:rPr>
              <a:t>Design the shape before you generate the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07208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2807208"/>
            <a:ext cx="109728" cy="7132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807208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0B981"/>
                </a:solidFill>
                <a:latin typeface="Helvetica Neue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2807208"/>
            <a:ext cx="9326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0F172A"/>
                </a:solidFill>
                <a:latin typeface="Helvetica Neue"/>
              </a:rPr>
              <a:t>Build in small, reviewable slices — with tests each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648456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3648456"/>
            <a:ext cx="109728" cy="7132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648456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0B981"/>
                </a:solidFill>
                <a:latin typeface="Helvetica Neue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648456"/>
            <a:ext cx="9326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0F172A"/>
                </a:solidFill>
                <a:latin typeface="Helvetica Neue"/>
              </a:rPr>
              <a:t>Direct the agent; review every slice with your design vocabulary.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89704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489704"/>
            <a:ext cx="109728" cy="7132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489704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0B981"/>
                </a:solidFill>
                <a:latin typeface="Helvetica Neue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4489704"/>
            <a:ext cx="9326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0F172A"/>
                </a:solidFill>
                <a:latin typeface="Helvetica Neue"/>
              </a:rPr>
              <a:t>Commit small and often; keep a short design rationale.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330952"/>
            <a:ext cx="10515600" cy="71323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" y="5330952"/>
            <a:ext cx="109728" cy="7132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5330952"/>
            <a:ext cx="548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10B981"/>
                </a:solidFill>
                <a:latin typeface="Helvetica Neue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80" y="5330952"/>
            <a:ext cx="93268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0F172A"/>
                </a:solidFill>
                <a:latin typeface="Helvetica Neue"/>
              </a:rPr>
              <a:t>A clean, tested, well-bounded solution beats a big pile of features.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Go deeper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Further Reading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475569"/>
                </a:solidFill>
                <a:latin typeface="Helvetica Neue"/>
              </a:rPr>
              <a:t>The books behind this session. If you read only one, read the first.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03120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03120"/>
            <a:ext cx="109728" cy="80467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4440" y="2221991"/>
            <a:ext cx="996696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📖  </a:t>
            </a:r>
            <a:r>
              <a:rPr sz="1500" b="1" i="0">
                <a:solidFill>
                  <a:srgbClr val="0F172A"/>
                </a:solidFill>
                <a:latin typeface="Helvetica Neue"/>
              </a:rPr>
              <a:t>Domain-Driven Design</a:t>
            </a:r>
            <a:r>
              <a:rPr sz="1500" b="0" i="0">
                <a:solidFill>
                  <a:srgbClr val="64748B"/>
                </a:solidFill>
                <a:latin typeface="Helvetica Neue"/>
              </a:rPr>
              <a:t>     </a:t>
            </a:r>
            <a:r>
              <a:rPr sz="1250" b="0" i="0">
                <a:solidFill>
                  <a:srgbClr val="64748B"/>
                </a:solidFill>
                <a:latin typeface="Helvetica Neue"/>
              </a:rPr>
              <a:t>Eric Evans  ·  Addison-Wesley, 2003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560320"/>
            <a:ext cx="996696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475569"/>
                </a:solidFill>
                <a:latin typeface="Helvetica Neue"/>
              </a:rPr>
              <a:t>The blue book: ubiquitous language and model-driven design — the project’s backbone.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08376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" y="3008376"/>
            <a:ext cx="109728" cy="80467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3127248"/>
            <a:ext cx="996696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📖  </a:t>
            </a:r>
            <a:r>
              <a:rPr sz="1500" b="1" i="0">
                <a:solidFill>
                  <a:srgbClr val="0F172A"/>
                </a:solidFill>
                <a:latin typeface="Helvetica Neue"/>
              </a:rPr>
              <a:t>Learning Domain-Driven Design</a:t>
            </a:r>
            <a:r>
              <a:rPr sz="1500" b="0" i="0">
                <a:solidFill>
                  <a:srgbClr val="64748B"/>
                </a:solidFill>
                <a:latin typeface="Helvetica Neue"/>
              </a:rPr>
              <a:t>     </a:t>
            </a:r>
            <a:r>
              <a:rPr sz="1250" b="0" i="0">
                <a:solidFill>
                  <a:srgbClr val="64748B"/>
                </a:solidFill>
                <a:latin typeface="Helvetica Neue"/>
              </a:rPr>
              <a:t>Vlad Khononov  ·  O’Reilly, 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65576"/>
            <a:ext cx="996696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475569"/>
                </a:solidFill>
                <a:latin typeface="Helvetica Neue"/>
              </a:rPr>
              <a:t>The fastest modern route into DDD — start here, then go back to Evans.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13631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913631"/>
            <a:ext cx="109728" cy="80467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4032503"/>
            <a:ext cx="996696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📖  </a:t>
            </a:r>
            <a:r>
              <a:rPr sz="1500" b="1" i="0">
                <a:solidFill>
                  <a:srgbClr val="0F172A"/>
                </a:solidFill>
                <a:latin typeface="Helvetica Neue"/>
              </a:rPr>
              <a:t>Refactoring, 2nd ed.</a:t>
            </a:r>
            <a:r>
              <a:rPr sz="1500" b="0" i="0">
                <a:solidFill>
                  <a:srgbClr val="64748B"/>
                </a:solidFill>
                <a:latin typeface="Helvetica Neue"/>
              </a:rPr>
              <a:t>     </a:t>
            </a:r>
            <a:r>
              <a:rPr sz="1250" b="0" i="0">
                <a:solidFill>
                  <a:srgbClr val="64748B"/>
                </a:solidFill>
                <a:latin typeface="Helvetica Neue"/>
              </a:rPr>
              <a:t>Martin Fowler  ·  Addison-Wesley, 2018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70831"/>
            <a:ext cx="996696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475569"/>
                </a:solidFill>
                <a:latin typeface="Helvetica Neue"/>
              </a:rPr>
              <a:t>The catalog of moves you will apply to whatever the AI hands you.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818888"/>
            <a:ext cx="10515600" cy="804672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18888"/>
            <a:ext cx="109728" cy="80467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4440" y="4937759"/>
            <a:ext cx="996696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📖  </a:t>
            </a:r>
            <a:r>
              <a:rPr sz="1500" b="1" i="0">
                <a:solidFill>
                  <a:srgbClr val="0F172A"/>
                </a:solidFill>
                <a:latin typeface="Helvetica Neue"/>
              </a:rPr>
              <a:t>Implementing Domain-Driven Design</a:t>
            </a:r>
            <a:r>
              <a:rPr sz="1500" b="0" i="0">
                <a:solidFill>
                  <a:srgbClr val="64748B"/>
                </a:solidFill>
                <a:latin typeface="Helvetica Neue"/>
              </a:rPr>
              <a:t>     </a:t>
            </a:r>
            <a:r>
              <a:rPr sz="1250" b="0" i="0">
                <a:solidFill>
                  <a:srgbClr val="64748B"/>
                </a:solidFill>
                <a:latin typeface="Helvetica Neue"/>
              </a:rPr>
              <a:t>Vaughn Vernon  ·  Addison-Wesley, 2013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276088"/>
            <a:ext cx="9966960" cy="31089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475569"/>
                </a:solidFill>
                <a:latin typeface="Helvetica Neue"/>
              </a:rPr>
              <a:t>The practical bridge from model to code — aggregates, repositories, services.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58368"/>
            <a:ext cx="457200" cy="12801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2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6366F1"/>
                </a:solidFill>
                <a:latin typeface="Helvetica Neue"/>
              </a:rPr>
              <a:t>Next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200" b="1" i="0">
                <a:solidFill>
                  <a:srgbClr val="0F172A"/>
                </a:solidFill>
                <a:latin typeface="Helvetica Neue"/>
              </a:rPr>
              <a:t>What's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382512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Agentic SW Design &amp; Architecture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82512"/>
            <a:ext cx="85039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64748B"/>
                </a:solidFill>
                <a:latin typeface="Helvetica Neue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10515600" cy="30175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146304" cy="30175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3774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2D3EE"/>
                </a:solidFill>
                <a:latin typeface="Helvetica Neue"/>
              </a:rPr>
              <a:t>Module 11 · Tuesday 4 August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346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Fundamentals of Software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1F5F9"/>
                </a:solidFill>
                <a:latin typeface="Helvetica Neue"/>
              </a:rPr>
              <a:t>with Akın Kaldıroğlu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343400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1">
                <a:solidFill>
                  <a:srgbClr val="CBD5E1"/>
                </a:solidFill>
                <a:latin typeface="Helvetica Neue"/>
              </a:rPr>
              <a:t>Phase 2 begins: we zoom out from classes to whole systems — quality attributes, architecture models, and styles.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77440"/>
            <a:ext cx="14630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2697480"/>
            <a:ext cx="10789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Helvetica Neue"/>
              </a:rPr>
              <a:t>Let's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CBD5E1"/>
                </a:solidFill>
                <a:latin typeface="Helvetica Neue"/>
              </a:rPr>
              <a:t>Design first. Direct the agent. Hold the bar.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4A3B8"/>
                </a:solidFill>
                <a:latin typeface="Helvetica Neue"/>
              </a:rPr>
              <a:t>Akın Kaldıroğlu  ·  SW Design Project with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