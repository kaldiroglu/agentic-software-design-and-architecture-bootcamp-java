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 — hand the floor over; do not answer it yourself first.</a:t>
            </a:r>
          </a:p>
          <a:p>
            <a:r>
              <a:t>The quote is @yacineMTB's; Karpathy popularized it. It sounds obviously right, which is exactly why it is worth attacking.</a:t>
            </a:r>
          </a:p>
          <a:p>
            <a:r>
              <a:t>If the room agrees too readily, push: you have all read code you did not write. Did reading it give you understanding, or only the feeling of it? What did you have to do before you really understood it?</a:t>
            </a:r>
          </a:p>
          <a:p>
            <a:r>
              <a:t>If the room rejects it outright, push the other way: you use libraries every day whose internals you have never read, and you still understand your own system. So where exactly is the line?</a:t>
            </a:r>
          </a:p>
          <a:p>
            <a:r>
              <a:t>Land it on the chapter's thesis: you can delegate the typing, and even the drafting — but the moment you stop being able to explain why the design is right, you have outsourced something you cannot get 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3152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22D3EE"/>
                </a:solidFill>
                <a:latin typeface="Helvetica Neue"/>
              </a:rPr>
              <a:t>Module 9 · SW Design</a:t>
            </a:r>
          </a:p>
        </p:txBody>
      </p:sp>
      <p:sp>
        <p:nvSpPr>
          <p:cNvPr id="5" name="Rectangle 4"/>
          <p:cNvSpPr/>
          <p:nvPr/>
        </p:nvSpPr>
        <p:spPr>
          <a:xfrm>
            <a:off x="822960" y="1371600"/>
            <a:ext cx="146304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1783080"/>
            <a:ext cx="10789920" cy="2377440"/>
          </a:xfrm>
          <a:prstGeom prst="rect">
            <a:avLst/>
          </a:prstGeom>
          <a:noFill/>
        </p:spPr>
        <p:txBody>
          <a:bodyPr wrap="square" anchor="t" lIns="0" rIns="0" tIns="0" bIns="0">
            <a:spAutoFit/>
          </a:bodyPr>
          <a:lstStyle/>
          <a:p>
            <a:pPr algn="l">
              <a:lnSpc>
                <a:spcPct val="102000"/>
              </a:lnSpc>
              <a:spcBef>
                <a:spcPts val="0"/>
              </a:spcBef>
              <a:spcAft>
                <a:spcPts val="600"/>
              </a:spcAft>
            </a:pPr>
            <a:r>
              <a:rPr sz="5000" b="1" i="0">
                <a:solidFill>
                  <a:srgbClr val="FFFFFF"/>
                </a:solidFill>
                <a:latin typeface="Helvetica Neue"/>
              </a:rPr>
              <a:t>Agentic Design</a:t>
            </a:r>
          </a:p>
          <a:p>
            <a:pPr algn="l">
              <a:lnSpc>
                <a:spcPct val="102000"/>
              </a:lnSpc>
              <a:spcBef>
                <a:spcPts val="0"/>
              </a:spcBef>
              <a:spcAft>
                <a:spcPts val="600"/>
              </a:spcAft>
            </a:pPr>
            <a:r>
              <a:rPr sz="5000" b="1" i="0">
                <a:solidFill>
                  <a:srgbClr val="FFFFFF"/>
                </a:solidFill>
                <a:latin typeface="Helvetica Neue"/>
              </a:rPr>
              <a:t>&amp; Coding</a:t>
            </a:r>
          </a:p>
        </p:txBody>
      </p:sp>
      <p:sp>
        <p:nvSpPr>
          <p:cNvPr id="7" name="TextBox 6"/>
          <p:cNvSpPr txBox="1"/>
          <p:nvPr/>
        </p:nvSpPr>
        <p:spPr>
          <a:xfrm>
            <a:off x="822960" y="3840479"/>
            <a:ext cx="10607040" cy="640080"/>
          </a:xfrm>
          <a:prstGeom prst="rect">
            <a:avLst/>
          </a:prstGeom>
          <a:noFill/>
        </p:spPr>
        <p:txBody>
          <a:bodyPr wrap="square" anchor="t" lIns="0" rIns="0" tIns="0" bIns="0">
            <a:spAutoFit/>
          </a:bodyPr>
          <a:lstStyle/>
          <a:p>
            <a:pPr algn="l">
              <a:lnSpc>
                <a:spcPct val="100000"/>
              </a:lnSpc>
              <a:spcBef>
                <a:spcPts val="0"/>
              </a:spcBef>
              <a:spcAft>
                <a:spcPts val="600"/>
              </a:spcAft>
            </a:pPr>
            <a:r>
              <a:rPr sz="2000" b="0" i="1">
                <a:solidFill>
                  <a:srgbClr val="F1F5F9"/>
                </a:solidFill>
                <a:latin typeface="Helvetica Neue"/>
              </a:rPr>
              <a:t>How to design and build software with an AI agent — as its director, not its passenger.</a:t>
            </a:r>
          </a:p>
        </p:txBody>
      </p:sp>
      <p:sp>
        <p:nvSpPr>
          <p:cNvPr id="8" name="TextBox 7"/>
          <p:cNvSpPr txBox="1"/>
          <p:nvPr/>
        </p:nvSpPr>
        <p:spPr>
          <a:xfrm>
            <a:off x="822960" y="5943600"/>
            <a:ext cx="10607040" cy="457200"/>
          </a:xfrm>
          <a:prstGeom prst="rect">
            <a:avLst/>
          </a:prstGeom>
          <a:noFill/>
        </p:spPr>
        <p:txBody>
          <a:bodyPr wrap="square" anchor="t" lIns="0" rIns="0" tIns="0" bIns="0">
            <a:spAutoFit/>
          </a:bodyPr>
          <a:lstStyle/>
          <a:p>
            <a:pPr algn="l">
              <a:lnSpc>
                <a:spcPct val="100000"/>
              </a:lnSpc>
              <a:spcBef>
                <a:spcPts val="0"/>
              </a:spcBef>
              <a:spcAft>
                <a:spcPts val="600"/>
              </a:spcAft>
            </a:pPr>
            <a:r>
              <a:rPr sz="1400" b="0" i="0">
                <a:solidFill>
                  <a:srgbClr val="94A3B8"/>
                </a:solidFill>
                <a:latin typeface="Helvetica Neue"/>
              </a:rPr>
              <a:t>Akın Kaldıroğlu  ·  Lead 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Where we are</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From Writing Code to Directing It</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2</a:t>
            </a:r>
          </a:p>
        </p:txBody>
      </p:sp>
      <p:sp>
        <p:nvSpPr>
          <p:cNvPr id="8" name="TextBox 7"/>
          <p:cNvSpPr txBox="1"/>
          <p:nvPr/>
        </p:nvSpPr>
        <p:spPr>
          <a:xfrm>
            <a:off x="822960" y="182880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2300" b="0" i="0">
                <a:solidFill>
                  <a:srgbClr val="475569"/>
                </a:solidFill>
                <a:latin typeface="Helvetica Neue"/>
              </a:rPr>
              <a:t>You now have the design vocabulary. This session is where it pays off: it is exactly what lets you steer an AI toward good software.</a:t>
            </a:r>
          </a:p>
        </p:txBody>
      </p:sp>
      <p:sp>
        <p:nvSpPr>
          <p:cNvPr id="9" name="Rounded Rectangle 8"/>
          <p:cNvSpPr/>
          <p:nvPr/>
        </p:nvSpPr>
        <p:spPr>
          <a:xfrm>
            <a:off x="822960" y="3200400"/>
            <a:ext cx="3334512" cy="22860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15568" y="3493008"/>
            <a:ext cx="457200"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3712464"/>
            <a:ext cx="2749295" cy="475488"/>
          </a:xfrm>
          <a:prstGeom prst="rect">
            <a:avLst/>
          </a:prstGeom>
          <a:noFill/>
        </p:spPr>
        <p:txBody>
          <a:bodyPr wrap="square" anchor="t" lIns="0" rIns="0" tIns="0" bIns="0">
            <a:spAutoFit/>
          </a:bodyPr>
          <a:lstStyle/>
          <a:p>
            <a:pPr algn="l">
              <a:lnSpc>
                <a:spcPct val="102000"/>
              </a:lnSpc>
              <a:spcBef>
                <a:spcPts val="0"/>
              </a:spcBef>
              <a:spcAft>
                <a:spcPts val="600"/>
              </a:spcAft>
            </a:pPr>
            <a:r>
              <a:rPr sz="2100" b="1" i="0">
                <a:solidFill>
                  <a:srgbClr val="0F172A"/>
                </a:solidFill>
                <a:latin typeface="Helvetica Neue"/>
              </a:rPr>
              <a:t>The agent</a:t>
            </a:r>
          </a:p>
        </p:txBody>
      </p:sp>
      <p:sp>
        <p:nvSpPr>
          <p:cNvPr id="12" name="TextBox 11"/>
          <p:cNvSpPr txBox="1"/>
          <p:nvPr/>
        </p:nvSpPr>
        <p:spPr>
          <a:xfrm>
            <a:off x="1115568" y="4315968"/>
            <a:ext cx="2749295" cy="1033272"/>
          </a:xfrm>
          <a:prstGeom prst="rect">
            <a:avLst/>
          </a:prstGeom>
          <a:noFill/>
        </p:spPr>
        <p:txBody>
          <a:bodyPr wrap="square" anchor="t" lIns="0" rIns="0" tIns="0" bIns="0">
            <a:spAutoFit/>
          </a:bodyPr>
          <a:lstStyle/>
          <a:p>
            <a:pPr algn="l">
              <a:lnSpc>
                <a:spcPct val="112000"/>
              </a:lnSpc>
              <a:spcBef>
                <a:spcPts val="0"/>
              </a:spcBef>
              <a:spcAft>
                <a:spcPts val="600"/>
              </a:spcAft>
            </a:pPr>
            <a:r>
              <a:rPr sz="1550" b="0" i="0">
                <a:solidFill>
                  <a:srgbClr val="475569"/>
                </a:solidFill>
                <a:latin typeface="Helvetica Neue"/>
              </a:rPr>
              <a:t>Plans, edits files, runs tools and tests in a loop.</a:t>
            </a:r>
          </a:p>
        </p:txBody>
      </p:sp>
      <p:sp>
        <p:nvSpPr>
          <p:cNvPr id="13" name="Rounded Rectangle 12"/>
          <p:cNvSpPr/>
          <p:nvPr/>
        </p:nvSpPr>
        <p:spPr>
          <a:xfrm>
            <a:off x="4413504" y="3200400"/>
            <a:ext cx="3334512" cy="22860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06112" y="3493008"/>
            <a:ext cx="45720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6112" y="3712464"/>
            <a:ext cx="2749295" cy="475488"/>
          </a:xfrm>
          <a:prstGeom prst="rect">
            <a:avLst/>
          </a:prstGeom>
          <a:noFill/>
        </p:spPr>
        <p:txBody>
          <a:bodyPr wrap="square" anchor="t" lIns="0" rIns="0" tIns="0" bIns="0">
            <a:spAutoFit/>
          </a:bodyPr>
          <a:lstStyle/>
          <a:p>
            <a:pPr algn="l">
              <a:lnSpc>
                <a:spcPct val="102000"/>
              </a:lnSpc>
              <a:spcBef>
                <a:spcPts val="0"/>
              </a:spcBef>
              <a:spcAft>
                <a:spcPts val="600"/>
              </a:spcAft>
            </a:pPr>
            <a:r>
              <a:rPr sz="2100" b="1" i="0">
                <a:solidFill>
                  <a:srgbClr val="0F172A"/>
                </a:solidFill>
                <a:latin typeface="Helvetica Neue"/>
              </a:rPr>
              <a:t>You</a:t>
            </a:r>
          </a:p>
        </p:txBody>
      </p:sp>
      <p:sp>
        <p:nvSpPr>
          <p:cNvPr id="16" name="TextBox 15"/>
          <p:cNvSpPr txBox="1"/>
          <p:nvPr/>
        </p:nvSpPr>
        <p:spPr>
          <a:xfrm>
            <a:off x="4706112" y="4315968"/>
            <a:ext cx="2749295" cy="1033272"/>
          </a:xfrm>
          <a:prstGeom prst="rect">
            <a:avLst/>
          </a:prstGeom>
          <a:noFill/>
        </p:spPr>
        <p:txBody>
          <a:bodyPr wrap="square" anchor="t" lIns="0" rIns="0" tIns="0" bIns="0">
            <a:spAutoFit/>
          </a:bodyPr>
          <a:lstStyle/>
          <a:p>
            <a:pPr algn="l">
              <a:lnSpc>
                <a:spcPct val="112000"/>
              </a:lnSpc>
              <a:spcBef>
                <a:spcPts val="0"/>
              </a:spcBef>
              <a:spcAft>
                <a:spcPts val="600"/>
              </a:spcAft>
            </a:pPr>
            <a:r>
              <a:rPr sz="1550" b="0" i="0">
                <a:solidFill>
                  <a:srgbClr val="475569"/>
                </a:solidFill>
                <a:latin typeface="Helvetica Neue"/>
              </a:rPr>
              <a:t>Frame the problem, judge the design, own the decisions.</a:t>
            </a:r>
          </a:p>
        </p:txBody>
      </p:sp>
      <p:sp>
        <p:nvSpPr>
          <p:cNvPr id="17" name="Rounded Rectangle 16"/>
          <p:cNvSpPr/>
          <p:nvPr/>
        </p:nvSpPr>
        <p:spPr>
          <a:xfrm>
            <a:off x="8004048" y="3200400"/>
            <a:ext cx="3334512" cy="22860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96656" y="3493008"/>
            <a:ext cx="45720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6656" y="3712464"/>
            <a:ext cx="2749295" cy="475488"/>
          </a:xfrm>
          <a:prstGeom prst="rect">
            <a:avLst/>
          </a:prstGeom>
          <a:noFill/>
        </p:spPr>
        <p:txBody>
          <a:bodyPr wrap="square" anchor="t" lIns="0" rIns="0" tIns="0" bIns="0">
            <a:spAutoFit/>
          </a:bodyPr>
          <a:lstStyle/>
          <a:p>
            <a:pPr algn="l">
              <a:lnSpc>
                <a:spcPct val="102000"/>
              </a:lnSpc>
              <a:spcBef>
                <a:spcPts val="0"/>
              </a:spcBef>
              <a:spcAft>
                <a:spcPts val="600"/>
              </a:spcAft>
            </a:pPr>
            <a:r>
              <a:rPr sz="2100" b="1" i="0">
                <a:solidFill>
                  <a:srgbClr val="0F172A"/>
                </a:solidFill>
                <a:latin typeface="Helvetica Neue"/>
              </a:rPr>
              <a:t>The bar</a:t>
            </a:r>
          </a:p>
        </p:txBody>
      </p:sp>
      <p:sp>
        <p:nvSpPr>
          <p:cNvPr id="20" name="TextBox 19"/>
          <p:cNvSpPr txBox="1"/>
          <p:nvPr/>
        </p:nvSpPr>
        <p:spPr>
          <a:xfrm>
            <a:off x="8296656" y="4315968"/>
            <a:ext cx="2749295" cy="1033272"/>
          </a:xfrm>
          <a:prstGeom prst="rect">
            <a:avLst/>
          </a:prstGeom>
          <a:noFill/>
        </p:spPr>
        <p:txBody>
          <a:bodyPr wrap="square" anchor="t" lIns="0" rIns="0" tIns="0" bIns="0">
            <a:spAutoFit/>
          </a:bodyPr>
          <a:lstStyle/>
          <a:p>
            <a:pPr algn="l">
              <a:lnSpc>
                <a:spcPct val="112000"/>
              </a:lnSpc>
              <a:spcBef>
                <a:spcPts val="0"/>
              </a:spcBef>
              <a:spcAft>
                <a:spcPts val="600"/>
              </a:spcAft>
            </a:pPr>
            <a:r>
              <a:rPr sz="1550" b="0" i="0">
                <a:solidFill>
                  <a:srgbClr val="475569"/>
                </a:solidFill>
                <a:latin typeface="Helvetica Neue"/>
              </a:rPr>
              <a:t>Everything from Phase 1: cohesion, coupling, SOLID,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What you'll leave with</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Learning Objectives</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3</a:t>
            </a:r>
          </a:p>
        </p:txBody>
      </p:sp>
      <p:sp>
        <p:nvSpPr>
          <p:cNvPr id="8" name="TextBox 7"/>
          <p:cNvSpPr txBox="1"/>
          <p:nvPr/>
        </p:nvSpPr>
        <p:spPr>
          <a:xfrm>
            <a:off x="822960" y="2148840"/>
            <a:ext cx="10515600" cy="4206240"/>
          </a:xfrm>
          <a:prstGeom prst="rect">
            <a:avLst/>
          </a:prstGeom>
          <a:noFill/>
        </p:spPr>
        <p:txBody>
          <a:bodyPr wrap="square" anchor="t" lIns="0" rIns="0" tIns="0" bIns="0">
            <a:spAutoFit/>
          </a:bodyPr>
          <a:lstStyle/>
          <a:p>
            <a:pPr algn="l">
              <a:lnSpc>
                <a:spcPct val="115000"/>
              </a:lnSpc>
              <a:spcBef>
                <a:spcPts val="0"/>
              </a:spcBef>
              <a:spcAft>
                <a:spcPts val="2200"/>
              </a:spcAft>
            </a:pPr>
            <a:r>
              <a:rPr sz="2200" b="1" i="0">
                <a:solidFill>
                  <a:srgbClr val="6366F1"/>
                </a:solidFill>
                <a:latin typeface="Helvetica Neue"/>
              </a:rPr>
              <a:t>—  </a:t>
            </a:r>
            <a:r>
              <a:rPr sz="2200" b="0" i="0">
                <a:solidFill>
                  <a:srgbClr val="0F172A"/>
                </a:solidFill>
                <a:latin typeface="Helvetica Neue"/>
              </a:rPr>
              <a:t>Understand what an AI coding agent is — the loop, and the harness around it.</a:t>
            </a:r>
          </a:p>
          <a:p>
            <a:pPr algn="l">
              <a:lnSpc>
                <a:spcPct val="115000"/>
              </a:lnSpc>
              <a:spcBef>
                <a:spcPts val="0"/>
              </a:spcBef>
              <a:spcAft>
                <a:spcPts val="2200"/>
              </a:spcAft>
            </a:pPr>
            <a:r>
              <a:rPr sz="2200" b="1" i="0">
                <a:solidFill>
                  <a:srgbClr val="6366F1"/>
                </a:solidFill>
                <a:latin typeface="Helvetica Neue"/>
              </a:rPr>
              <a:t>—  </a:t>
            </a:r>
            <a:r>
              <a:rPr sz="2200" b="0" i="0">
                <a:solidFill>
                  <a:srgbClr val="0F172A"/>
                </a:solidFill>
                <a:latin typeface="Helvetica Neue"/>
              </a:rPr>
              <a:t>Drive a design conversation: intent → plan → build → review.</a:t>
            </a:r>
          </a:p>
          <a:p>
            <a:pPr algn="l">
              <a:lnSpc>
                <a:spcPct val="115000"/>
              </a:lnSpc>
              <a:spcBef>
                <a:spcPts val="0"/>
              </a:spcBef>
              <a:spcAft>
                <a:spcPts val="2200"/>
              </a:spcAft>
            </a:pPr>
            <a:r>
              <a:rPr sz="2200" b="1" i="0">
                <a:solidFill>
                  <a:srgbClr val="6366F1"/>
                </a:solidFill>
                <a:latin typeface="Helvetica Neue"/>
              </a:rPr>
              <a:t>—  </a:t>
            </a:r>
            <a:r>
              <a:rPr sz="2200" b="0" i="0">
                <a:solidFill>
                  <a:srgbClr val="0F172A"/>
                </a:solidFill>
                <a:latin typeface="Helvetica Neue"/>
              </a:rPr>
              <a:t>Engineer the context, not just the prompt — select, persist, retrieve, compact.</a:t>
            </a:r>
          </a:p>
          <a:p>
            <a:pPr algn="l">
              <a:lnSpc>
                <a:spcPct val="115000"/>
              </a:lnSpc>
              <a:spcBef>
                <a:spcPts val="0"/>
              </a:spcBef>
              <a:spcAft>
                <a:spcPts val="2200"/>
              </a:spcAft>
            </a:pPr>
            <a:r>
              <a:rPr sz="2200" b="1" i="0">
                <a:solidFill>
                  <a:srgbClr val="6366F1"/>
                </a:solidFill>
                <a:latin typeface="Helvetica Neue"/>
              </a:rPr>
              <a:t>—  </a:t>
            </a:r>
            <a:r>
              <a:rPr sz="2200" b="0" i="0">
                <a:solidFill>
                  <a:srgbClr val="0F172A"/>
                </a:solidFill>
                <a:latin typeface="Helvetica Neue"/>
              </a:rPr>
              <a:t>Keep quality high — you are the reviewer and decision-maker.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The idea</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What Makes It 'Agentic'</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4</a:t>
            </a:r>
          </a:p>
        </p:txBody>
      </p:sp>
      <p:sp>
        <p:nvSpPr>
          <p:cNvPr id="8" name="TextBox 7"/>
          <p:cNvSpPr txBox="1"/>
          <p:nvPr/>
        </p:nvSpPr>
        <p:spPr>
          <a:xfrm>
            <a:off x="822960" y="182880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2300" b="0" i="0">
                <a:solidFill>
                  <a:srgbClr val="475569"/>
                </a:solidFill>
                <a:latin typeface="Helvetica Neue"/>
              </a:rPr>
              <a:t>A chatbot answers. An agent acts: it reads your code, makes a plan, edits files, runs tests, sees the results, and corrects itself — in a loop.</a:t>
            </a:r>
          </a:p>
        </p:txBody>
      </p:sp>
      <p:sp>
        <p:nvSpPr>
          <p:cNvPr id="9" name="Rounded Rectangle 8"/>
          <p:cNvSpPr/>
          <p:nvPr/>
        </p:nvSpPr>
        <p:spPr>
          <a:xfrm>
            <a:off x="822960" y="2926080"/>
            <a:ext cx="5029200" cy="3063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3246120"/>
            <a:ext cx="457200" cy="10972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447288"/>
            <a:ext cx="448056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0F172A"/>
                </a:solidFill>
                <a:latin typeface="Helvetica Neue"/>
              </a:rPr>
              <a:t>A plain assistant</a:t>
            </a:r>
          </a:p>
        </p:txBody>
      </p:sp>
      <p:sp>
        <p:nvSpPr>
          <p:cNvPr id="12" name="TextBox 11"/>
          <p:cNvSpPr txBox="1"/>
          <p:nvPr/>
        </p:nvSpPr>
        <p:spPr>
          <a:xfrm>
            <a:off x="1143000" y="4069080"/>
            <a:ext cx="448056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64748B"/>
                </a:solidFill>
                <a:latin typeface="Helvetica Neue"/>
              </a:rPr>
              <a:t>—  </a:t>
            </a:r>
            <a:r>
              <a:rPr sz="1700" b="0" i="0">
                <a:solidFill>
                  <a:srgbClr val="0F172A"/>
                </a:solidFill>
                <a:latin typeface="Helvetica Neue"/>
              </a:rPr>
              <a:t>You copy-paste snippets back and forth</a:t>
            </a:r>
          </a:p>
          <a:p>
            <a:pPr algn="l">
              <a:lnSpc>
                <a:spcPct val="110000"/>
              </a:lnSpc>
              <a:spcBef>
                <a:spcPts val="0"/>
              </a:spcBef>
              <a:spcAft>
                <a:spcPts val="1300"/>
              </a:spcAft>
            </a:pPr>
            <a:r>
              <a:rPr sz="1700" b="1" i="0">
                <a:solidFill>
                  <a:srgbClr val="64748B"/>
                </a:solidFill>
                <a:latin typeface="Helvetica Neue"/>
              </a:rPr>
              <a:t>—  </a:t>
            </a:r>
            <a:r>
              <a:rPr sz="1700" b="0" i="0">
                <a:solidFill>
                  <a:srgbClr val="0F172A"/>
                </a:solidFill>
                <a:latin typeface="Helvetica Neue"/>
              </a:rPr>
              <a:t>No access to your project</a:t>
            </a:r>
          </a:p>
          <a:p>
            <a:pPr algn="l">
              <a:lnSpc>
                <a:spcPct val="110000"/>
              </a:lnSpc>
              <a:spcBef>
                <a:spcPts val="0"/>
              </a:spcBef>
              <a:spcAft>
                <a:spcPts val="1300"/>
              </a:spcAft>
            </a:pPr>
            <a:r>
              <a:rPr sz="1700" b="1" i="0">
                <a:solidFill>
                  <a:srgbClr val="64748B"/>
                </a:solidFill>
                <a:latin typeface="Helvetica Neue"/>
              </a:rPr>
              <a:t>—  </a:t>
            </a:r>
            <a:r>
              <a:rPr sz="1700" b="0" i="0">
                <a:solidFill>
                  <a:srgbClr val="0F172A"/>
                </a:solidFill>
                <a:latin typeface="Helvetica Neue"/>
              </a:rPr>
              <a:t>One turn at a time</a:t>
            </a:r>
          </a:p>
        </p:txBody>
      </p:sp>
      <p:sp>
        <p:nvSpPr>
          <p:cNvPr id="13" name="Rounded Rectangle 12"/>
          <p:cNvSpPr/>
          <p:nvPr/>
        </p:nvSpPr>
        <p:spPr>
          <a:xfrm>
            <a:off x="6080760" y="2926080"/>
            <a:ext cx="5257800" cy="306324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3246120"/>
            <a:ext cx="457200"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447288"/>
            <a:ext cx="457200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FFFFFF"/>
                </a:solidFill>
                <a:latin typeface="Helvetica Neue"/>
              </a:rPr>
              <a:t>An agent (e.g. Claude Code)</a:t>
            </a:r>
          </a:p>
        </p:txBody>
      </p:sp>
      <p:sp>
        <p:nvSpPr>
          <p:cNvPr id="16" name="TextBox 15"/>
          <p:cNvSpPr txBox="1"/>
          <p:nvPr/>
        </p:nvSpPr>
        <p:spPr>
          <a:xfrm>
            <a:off x="6400800" y="4069080"/>
            <a:ext cx="475488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6366F1"/>
                </a:solidFill>
                <a:latin typeface="Helvetica Neue"/>
              </a:rPr>
              <a:t>—  </a:t>
            </a:r>
            <a:r>
              <a:rPr sz="1700" b="0" i="0">
                <a:solidFill>
                  <a:srgbClr val="F1F5F9"/>
                </a:solidFill>
                <a:latin typeface="Helvetica Neue"/>
              </a:rPr>
              <a:t>Reads and edits your real files</a:t>
            </a:r>
          </a:p>
          <a:p>
            <a:pPr algn="l">
              <a:lnSpc>
                <a:spcPct val="110000"/>
              </a:lnSpc>
              <a:spcBef>
                <a:spcPts val="0"/>
              </a:spcBef>
              <a:spcAft>
                <a:spcPts val="1300"/>
              </a:spcAft>
            </a:pPr>
            <a:r>
              <a:rPr sz="1700" b="1" i="0">
                <a:solidFill>
                  <a:srgbClr val="6366F1"/>
                </a:solidFill>
                <a:latin typeface="Helvetica Neue"/>
              </a:rPr>
              <a:t>—  </a:t>
            </a:r>
            <a:r>
              <a:rPr sz="1700" b="0" i="0">
                <a:solidFill>
                  <a:srgbClr val="F1F5F9"/>
                </a:solidFill>
                <a:latin typeface="Helvetica Neue"/>
              </a:rPr>
              <a:t>Runs commands, tests, and tools</a:t>
            </a:r>
          </a:p>
          <a:p>
            <a:pPr algn="l">
              <a:lnSpc>
                <a:spcPct val="110000"/>
              </a:lnSpc>
              <a:spcBef>
                <a:spcPts val="0"/>
              </a:spcBef>
              <a:spcAft>
                <a:spcPts val="1300"/>
              </a:spcAft>
            </a:pPr>
            <a:r>
              <a:rPr sz="1700" b="1" i="0">
                <a:solidFill>
                  <a:srgbClr val="6366F1"/>
                </a:solidFill>
                <a:latin typeface="Helvetica Neue"/>
              </a:rPr>
              <a:t>—  </a:t>
            </a:r>
            <a:r>
              <a:rPr sz="1700" b="0" i="0">
                <a:solidFill>
                  <a:srgbClr val="F1F5F9"/>
                </a:solidFill>
                <a:latin typeface="Helvetica Neue"/>
              </a:rPr>
              <a:t>Loops: act → observe → adjust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The idea</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The Harness Around the Model</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5</a:t>
            </a:r>
          </a:p>
        </p:txBody>
      </p:sp>
      <p:sp>
        <p:nvSpPr>
          <p:cNvPr id="8" name="TextBox 7"/>
          <p:cNvSpPr txBox="1"/>
          <p:nvPr/>
        </p:nvSpPr>
        <p:spPr>
          <a:xfrm>
            <a:off x="822960" y="164592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1700" b="0" i="0">
                <a:solidFill>
                  <a:srgbClr val="475569"/>
                </a:solidFill>
                <a:latin typeface="Helvetica Neue"/>
              </a:rPr>
              <a:t>A model produces text. What turns it into an agent is the harness around it — the loop, the tools, the limits and the checks. Same model, different harness, different results.</a:t>
            </a:r>
          </a:p>
        </p:txBody>
      </p:sp>
      <p:sp>
        <p:nvSpPr>
          <p:cNvPr id="9" name="Rounded Rectangle 8"/>
          <p:cNvSpPr/>
          <p:nvPr/>
        </p:nvSpPr>
        <p:spPr>
          <a:xfrm>
            <a:off x="822960" y="2331720"/>
            <a:ext cx="10515600" cy="777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331720"/>
            <a:ext cx="109728" cy="77724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2423160"/>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450" b="1" i="0">
                <a:solidFill>
                  <a:srgbClr val="6366F1"/>
                </a:solidFill>
                <a:latin typeface="Helvetica Neue"/>
              </a:rPr>
              <a:t>The loop</a:t>
            </a:r>
          </a:p>
        </p:txBody>
      </p:sp>
      <p:sp>
        <p:nvSpPr>
          <p:cNvPr id="12" name="TextBox 11"/>
          <p:cNvSpPr txBox="1"/>
          <p:nvPr/>
        </p:nvSpPr>
        <p:spPr>
          <a:xfrm>
            <a:off x="1207008" y="2715768"/>
            <a:ext cx="9966960" cy="347472"/>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475569"/>
                </a:solidFill>
                <a:latin typeface="Helvetica Neue"/>
              </a:rPr>
              <a:t>Act → observe → correct, repeated until the goal is met or a limit stops it. Nothing else in the harness matters without this.</a:t>
            </a:r>
          </a:p>
        </p:txBody>
      </p:sp>
      <p:sp>
        <p:nvSpPr>
          <p:cNvPr id="13" name="Rounded Rectangle 12"/>
          <p:cNvSpPr/>
          <p:nvPr/>
        </p:nvSpPr>
        <p:spPr>
          <a:xfrm>
            <a:off x="822960" y="3209544"/>
            <a:ext cx="10515600" cy="777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3209544"/>
            <a:ext cx="109728" cy="7772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8" y="3300984"/>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450" b="1" i="0">
                <a:solidFill>
                  <a:srgbClr val="22D3EE"/>
                </a:solidFill>
                <a:latin typeface="Helvetica Neue"/>
              </a:rPr>
              <a:t>Tools</a:t>
            </a:r>
          </a:p>
        </p:txBody>
      </p:sp>
      <p:sp>
        <p:nvSpPr>
          <p:cNvPr id="16" name="TextBox 15"/>
          <p:cNvSpPr txBox="1"/>
          <p:nvPr/>
        </p:nvSpPr>
        <p:spPr>
          <a:xfrm>
            <a:off x="1207008" y="3593591"/>
            <a:ext cx="9966960" cy="347472"/>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475569"/>
                </a:solidFill>
                <a:latin typeface="Helvetica Neue"/>
              </a:rPr>
              <a:t>Read and write files, run commands and tests, search, call services. What the harness does not expose, the agent simply cannot do.</a:t>
            </a:r>
          </a:p>
        </p:txBody>
      </p:sp>
      <p:sp>
        <p:nvSpPr>
          <p:cNvPr id="17" name="Rounded Rectangle 16"/>
          <p:cNvSpPr/>
          <p:nvPr/>
        </p:nvSpPr>
        <p:spPr>
          <a:xfrm>
            <a:off x="822960" y="4087368"/>
            <a:ext cx="10515600" cy="777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4087368"/>
            <a:ext cx="109728"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7008" y="4178807"/>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450" b="1" i="0">
                <a:solidFill>
                  <a:srgbClr val="F59E0B"/>
                </a:solidFill>
                <a:latin typeface="Helvetica Neue"/>
              </a:rPr>
              <a:t>Permissions &amp; scope</a:t>
            </a:r>
          </a:p>
        </p:txBody>
      </p:sp>
      <p:sp>
        <p:nvSpPr>
          <p:cNvPr id="20" name="TextBox 19"/>
          <p:cNvSpPr txBox="1"/>
          <p:nvPr/>
        </p:nvSpPr>
        <p:spPr>
          <a:xfrm>
            <a:off x="1207008" y="4471416"/>
            <a:ext cx="9966960" cy="347472"/>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475569"/>
                </a:solidFill>
                <a:latin typeface="Helvetica Neue"/>
              </a:rPr>
              <a:t>What it may touch unasked, what needs your approval, where it must not go. Guardrails are part of the design, not an afterthought.</a:t>
            </a:r>
          </a:p>
        </p:txBody>
      </p:sp>
      <p:sp>
        <p:nvSpPr>
          <p:cNvPr id="21" name="Rounded Rectangle 20"/>
          <p:cNvSpPr/>
          <p:nvPr/>
        </p:nvSpPr>
        <p:spPr>
          <a:xfrm>
            <a:off x="822960" y="4965192"/>
            <a:ext cx="10515600" cy="777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965192"/>
            <a:ext cx="109728" cy="7772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7008" y="5056631"/>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450" b="1" i="0">
                <a:solidFill>
                  <a:srgbClr val="10B981"/>
                </a:solidFill>
                <a:latin typeface="Helvetica Neue"/>
              </a:rPr>
              <a:t>Verification</a:t>
            </a:r>
          </a:p>
        </p:txBody>
      </p:sp>
      <p:sp>
        <p:nvSpPr>
          <p:cNvPr id="24" name="TextBox 23"/>
          <p:cNvSpPr txBox="1"/>
          <p:nvPr/>
        </p:nvSpPr>
        <p:spPr>
          <a:xfrm>
            <a:off x="1207008" y="5349240"/>
            <a:ext cx="9966960" cy="347472"/>
          </a:xfrm>
          <a:prstGeom prst="rect">
            <a:avLst/>
          </a:prstGeom>
          <a:noFill/>
        </p:spPr>
        <p:txBody>
          <a:bodyPr wrap="square" anchor="t" lIns="0" rIns="0" tIns="0" bIns="0">
            <a:spAutoFit/>
          </a:bodyPr>
          <a:lstStyle/>
          <a:p>
            <a:pPr algn="l">
              <a:lnSpc>
                <a:spcPct val="105000"/>
              </a:lnSpc>
              <a:spcBef>
                <a:spcPts val="0"/>
              </a:spcBef>
              <a:spcAft>
                <a:spcPts val="600"/>
              </a:spcAft>
            </a:pPr>
            <a:r>
              <a:rPr sz="1250" b="0" i="1">
                <a:solidFill>
                  <a:srgbClr val="475569"/>
                </a:solidFill>
                <a:latin typeface="Helvetica Neue"/>
              </a:rPr>
              <a:t>Tests, types, linters, a build that runs. This is how the loop tells a working change from a merely plausible one.</a:t>
            </a:r>
          </a:p>
        </p:txBody>
      </p:sp>
      <p:sp>
        <p:nvSpPr>
          <p:cNvPr id="25" name="TextBox 24"/>
          <p:cNvSpPr txBox="1"/>
          <p:nvPr/>
        </p:nvSpPr>
        <p:spPr>
          <a:xfrm>
            <a:off x="822960" y="5870448"/>
            <a:ext cx="10515600" cy="384048"/>
          </a:xfrm>
          <a:prstGeom prst="rect">
            <a:avLst/>
          </a:prstGeom>
          <a:noFill/>
        </p:spPr>
        <p:txBody>
          <a:bodyPr wrap="square" anchor="t" lIns="0" rIns="0" tIns="0" bIns="0">
            <a:spAutoFit/>
          </a:bodyPr>
          <a:lstStyle/>
          <a:p>
            <a:pPr algn="l">
              <a:lnSpc>
                <a:spcPct val="100000"/>
              </a:lnSpc>
              <a:spcBef>
                <a:spcPts val="0"/>
              </a:spcBef>
              <a:spcAft>
                <a:spcPts val="600"/>
              </a:spcAft>
            </a:pPr>
            <a:r>
              <a:rPr sz="1550" b="1" i="0">
                <a:solidFill>
                  <a:srgbClr val="0F172A"/>
                </a:solidFill>
                <a:latin typeface="Helvetica Neue"/>
              </a:rPr>
              <a:t>Claude Code is a harness — </a:t>
            </a:r>
            <a:r>
              <a:rPr sz="1550" b="0" i="0">
                <a:solidFill>
                  <a:srgbClr val="475569"/>
                </a:solidFill>
                <a:latin typeface="Helvetica Neue"/>
              </a:rPr>
              <a:t>and so are your project instructions, your test suite and your CI. You are building one whether you mean to or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6366F1"/>
                </a:solidFill>
                <a:latin typeface="Helvetica Neue"/>
              </a:rPr>
              <a:t>Section 01</a:t>
            </a:r>
          </a:p>
        </p:txBody>
      </p:sp>
      <p:sp>
        <p:nvSpPr>
          <p:cNvPr id="5" name="TextBox 4"/>
          <p:cNvSpPr txBox="1"/>
          <p:nvPr/>
        </p:nvSpPr>
        <p:spPr>
          <a:xfrm>
            <a:off x="786384" y="2743200"/>
            <a:ext cx="10789920" cy="1188720"/>
          </a:xfrm>
          <a:prstGeom prst="rect">
            <a:avLst/>
          </a:prstGeom>
          <a:noFill/>
        </p:spPr>
        <p:txBody>
          <a:bodyPr wrap="square" anchor="t" lIns="0" rIns="0" tIns="0" bIns="0">
            <a:spAutoFit/>
          </a:bodyPr>
          <a:lstStyle/>
          <a:p>
            <a:pPr algn="l">
              <a:lnSpc>
                <a:spcPct val="100000"/>
              </a:lnSpc>
              <a:spcBef>
                <a:spcPts val="0"/>
              </a:spcBef>
              <a:spcAft>
                <a:spcPts val="600"/>
              </a:spcAft>
            </a:pPr>
            <a:r>
              <a:rPr sz="4600" b="1" i="0">
                <a:solidFill>
                  <a:srgbClr val="FFFFFF"/>
                </a:solidFill>
                <a:latin typeface="Helvetica Neue"/>
              </a:rPr>
              <a:t>The Workflow</a:t>
            </a:r>
          </a:p>
        </p:txBody>
      </p:sp>
      <p:sp>
        <p:nvSpPr>
          <p:cNvPr id="6" name="TextBox 5"/>
          <p:cNvSpPr txBox="1"/>
          <p:nvPr/>
        </p:nvSpPr>
        <p:spPr>
          <a:xfrm>
            <a:off x="822960" y="3977639"/>
            <a:ext cx="10424160" cy="914400"/>
          </a:xfrm>
          <a:prstGeom prst="rect">
            <a:avLst/>
          </a:prstGeom>
          <a:noFill/>
        </p:spPr>
        <p:txBody>
          <a:bodyPr wrap="square" anchor="t" lIns="0" rIns="0" tIns="0" bIns="0">
            <a:spAutoFit/>
          </a:bodyPr>
          <a:lstStyle/>
          <a:p>
            <a:pPr algn="l">
              <a:lnSpc>
                <a:spcPct val="115000"/>
              </a:lnSpc>
              <a:spcBef>
                <a:spcPts val="0"/>
              </a:spcBef>
              <a:spcAft>
                <a:spcPts val="600"/>
              </a:spcAft>
            </a:pPr>
            <a:r>
              <a:rPr sz="2300" b="0" i="1">
                <a:solidFill>
                  <a:srgbClr val="CBD5E1"/>
                </a:solidFill>
                <a:latin typeface="Helvetica Neue"/>
              </a:rPr>
              <a:t>A repeatable loop: intent, plan, build, review.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Workflow</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Intent → Plan → Build → Review</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7</a:t>
            </a:r>
          </a:p>
        </p:txBody>
      </p:sp>
      <p:sp>
        <p:nvSpPr>
          <p:cNvPr id="8" name="Rounded Rectangle 7"/>
          <p:cNvSpPr/>
          <p:nvPr/>
        </p:nvSpPr>
        <p:spPr>
          <a:xfrm>
            <a:off x="822960" y="2011680"/>
            <a:ext cx="10515600" cy="7498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011680"/>
            <a:ext cx="128016" cy="74980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011680"/>
            <a:ext cx="10058400" cy="749808"/>
          </a:xfrm>
          <a:prstGeom prst="rect">
            <a:avLst/>
          </a:prstGeom>
          <a:noFill/>
        </p:spPr>
        <p:txBody>
          <a:bodyPr wrap="square" anchor="ctr" lIns="0" rIns="0" tIns="0" bIns="0">
            <a:spAutoFit/>
          </a:bodyPr>
          <a:lstStyle/>
          <a:p>
            <a:pPr algn="l">
              <a:lnSpc>
                <a:spcPct val="100000"/>
              </a:lnSpc>
              <a:spcBef>
                <a:spcPts val="0"/>
              </a:spcBef>
              <a:spcAft>
                <a:spcPts val="600"/>
              </a:spcAft>
            </a:pPr>
            <a:r>
              <a:rPr sz="1800" b="1" i="0">
                <a:solidFill>
                  <a:srgbClr val="0F172A"/>
                </a:solidFill>
                <a:latin typeface="Helvetica Neue"/>
              </a:rPr>
              <a:t>1 · Intent — state the goal, constraints &amp; context</a:t>
            </a:r>
          </a:p>
        </p:txBody>
      </p:sp>
      <p:sp>
        <p:nvSpPr>
          <p:cNvPr id="11" name="Rounded Rectangle 10"/>
          <p:cNvSpPr/>
          <p:nvPr/>
        </p:nvSpPr>
        <p:spPr>
          <a:xfrm>
            <a:off x="822960" y="2907792"/>
            <a:ext cx="10515600" cy="7498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907792"/>
            <a:ext cx="128016" cy="7498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2907792"/>
            <a:ext cx="10058400" cy="749808"/>
          </a:xfrm>
          <a:prstGeom prst="rect">
            <a:avLst/>
          </a:prstGeom>
          <a:noFill/>
        </p:spPr>
        <p:txBody>
          <a:bodyPr wrap="square" anchor="ctr" lIns="0" rIns="0" tIns="0" bIns="0">
            <a:spAutoFit/>
          </a:bodyPr>
          <a:lstStyle/>
          <a:p>
            <a:pPr algn="l">
              <a:lnSpc>
                <a:spcPct val="100000"/>
              </a:lnSpc>
              <a:spcBef>
                <a:spcPts val="0"/>
              </a:spcBef>
              <a:spcAft>
                <a:spcPts val="600"/>
              </a:spcAft>
            </a:pPr>
            <a:r>
              <a:rPr sz="1800" b="1" i="0">
                <a:solidFill>
                  <a:srgbClr val="0F172A"/>
                </a:solidFill>
                <a:latin typeface="Helvetica Neue"/>
              </a:rPr>
              <a:t>2 · Plan — agree the design before any code</a:t>
            </a:r>
          </a:p>
        </p:txBody>
      </p:sp>
      <p:sp>
        <p:nvSpPr>
          <p:cNvPr id="14" name="Rounded Rectangle 13"/>
          <p:cNvSpPr/>
          <p:nvPr/>
        </p:nvSpPr>
        <p:spPr>
          <a:xfrm>
            <a:off x="822960" y="3803904"/>
            <a:ext cx="10515600" cy="7498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803904"/>
            <a:ext cx="128016"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803904"/>
            <a:ext cx="10058400" cy="749808"/>
          </a:xfrm>
          <a:prstGeom prst="rect">
            <a:avLst/>
          </a:prstGeom>
          <a:noFill/>
        </p:spPr>
        <p:txBody>
          <a:bodyPr wrap="square" anchor="ctr" lIns="0" rIns="0" tIns="0" bIns="0">
            <a:spAutoFit/>
          </a:bodyPr>
          <a:lstStyle/>
          <a:p>
            <a:pPr algn="l">
              <a:lnSpc>
                <a:spcPct val="100000"/>
              </a:lnSpc>
              <a:spcBef>
                <a:spcPts val="0"/>
              </a:spcBef>
              <a:spcAft>
                <a:spcPts val="600"/>
              </a:spcAft>
            </a:pPr>
            <a:r>
              <a:rPr sz="1800" b="1" i="0">
                <a:solidFill>
                  <a:srgbClr val="0F172A"/>
                </a:solidFill>
                <a:latin typeface="Helvetica Neue"/>
              </a:rPr>
              <a:t>3 · Build — let the agent implement in small steps</a:t>
            </a:r>
          </a:p>
        </p:txBody>
      </p:sp>
      <p:sp>
        <p:nvSpPr>
          <p:cNvPr id="17" name="Rounded Rectangle 16"/>
          <p:cNvSpPr/>
          <p:nvPr/>
        </p:nvSpPr>
        <p:spPr>
          <a:xfrm>
            <a:off x="822960" y="4700016"/>
            <a:ext cx="10515600" cy="74980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4700016"/>
            <a:ext cx="128016" cy="7498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4700016"/>
            <a:ext cx="10058400" cy="749808"/>
          </a:xfrm>
          <a:prstGeom prst="rect">
            <a:avLst/>
          </a:prstGeom>
          <a:noFill/>
        </p:spPr>
        <p:txBody>
          <a:bodyPr wrap="square" anchor="ctr" lIns="0" rIns="0" tIns="0" bIns="0">
            <a:spAutoFit/>
          </a:bodyPr>
          <a:lstStyle/>
          <a:p>
            <a:pPr algn="l">
              <a:lnSpc>
                <a:spcPct val="100000"/>
              </a:lnSpc>
              <a:spcBef>
                <a:spcPts val="0"/>
              </a:spcBef>
              <a:spcAft>
                <a:spcPts val="600"/>
              </a:spcAft>
            </a:pPr>
            <a:r>
              <a:rPr sz="1800" b="1" i="0">
                <a:solidFill>
                  <a:srgbClr val="0F172A"/>
                </a:solidFill>
                <a:latin typeface="Helvetica Neue"/>
              </a:rPr>
              <a:t>4 · Review — judge, test, and correct</a:t>
            </a:r>
          </a:p>
        </p:txBody>
      </p:sp>
      <p:sp>
        <p:nvSpPr>
          <p:cNvPr id="20" name="TextBox 19"/>
          <p:cNvSpPr txBox="1"/>
          <p:nvPr/>
        </p:nvSpPr>
        <p:spPr>
          <a:xfrm>
            <a:off x="822960" y="5852160"/>
            <a:ext cx="10515600" cy="36576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64748B"/>
                </a:solidFill>
                <a:latin typeface="Helvetica Neue"/>
              </a:rPr>
              <a:t>The loop repeats in small cycles — not one giant prompt.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Workflow</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Prompt for Design, Not Just Code</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8</a:t>
            </a:r>
          </a:p>
        </p:txBody>
      </p:sp>
      <p:sp>
        <p:nvSpPr>
          <p:cNvPr id="8" name="TextBox 7"/>
          <p:cNvSpPr txBox="1"/>
          <p:nvPr/>
        </p:nvSpPr>
        <p:spPr>
          <a:xfrm>
            <a:off x="822960" y="182880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2300" b="0" i="0">
                <a:solidFill>
                  <a:srgbClr val="475569"/>
                </a:solidFill>
                <a:latin typeface="Helvetica Neue"/>
              </a:rPr>
              <a:t>Vague prompts get vague code. Give the agent the same brief you'd give a junior engineer: the goal, the constraints, and the shape you want.</a:t>
            </a:r>
          </a:p>
        </p:txBody>
      </p:sp>
      <p:sp>
        <p:nvSpPr>
          <p:cNvPr id="9" name="Rounded Rectangle 8"/>
          <p:cNvSpPr/>
          <p:nvPr/>
        </p:nvSpPr>
        <p:spPr>
          <a:xfrm>
            <a:off x="822960" y="2926080"/>
            <a:ext cx="5029200" cy="3063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3246120"/>
            <a:ext cx="457200" cy="10972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447288"/>
            <a:ext cx="448056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0F172A"/>
                </a:solidFill>
                <a:latin typeface="Helvetica Neue"/>
              </a:rPr>
              <a:t>Weak prompt</a:t>
            </a:r>
          </a:p>
        </p:txBody>
      </p:sp>
      <p:sp>
        <p:nvSpPr>
          <p:cNvPr id="12" name="TextBox 11"/>
          <p:cNvSpPr txBox="1"/>
          <p:nvPr/>
        </p:nvSpPr>
        <p:spPr>
          <a:xfrm>
            <a:off x="1143000" y="4069080"/>
            <a:ext cx="448056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F43F5E"/>
                </a:solidFill>
                <a:latin typeface="Helvetica Neue"/>
              </a:rPr>
              <a:t>—  </a:t>
            </a:r>
            <a:r>
              <a:rPr sz="1700" b="0" i="0">
                <a:solidFill>
                  <a:srgbClr val="0F172A"/>
                </a:solidFill>
                <a:latin typeface="Helvetica Neue"/>
              </a:rPr>
              <a:t>'Write an order service'</a:t>
            </a:r>
          </a:p>
          <a:p>
            <a:pPr algn="l">
              <a:lnSpc>
                <a:spcPct val="110000"/>
              </a:lnSpc>
              <a:spcBef>
                <a:spcPts val="0"/>
              </a:spcBef>
              <a:spcAft>
                <a:spcPts val="1300"/>
              </a:spcAft>
            </a:pPr>
            <a:r>
              <a:rPr sz="1700" b="1" i="0">
                <a:solidFill>
                  <a:srgbClr val="F43F5E"/>
                </a:solidFill>
                <a:latin typeface="Helvetica Neue"/>
              </a:rPr>
              <a:t>—  </a:t>
            </a:r>
            <a:r>
              <a:rPr sz="1700" b="0" i="0">
                <a:solidFill>
                  <a:srgbClr val="0F172A"/>
                </a:solidFill>
                <a:latin typeface="Helvetica Neue"/>
              </a:rPr>
              <a:t>No constraints, no context</a:t>
            </a:r>
          </a:p>
          <a:p>
            <a:pPr algn="l">
              <a:lnSpc>
                <a:spcPct val="110000"/>
              </a:lnSpc>
              <a:spcBef>
                <a:spcPts val="0"/>
              </a:spcBef>
              <a:spcAft>
                <a:spcPts val="1300"/>
              </a:spcAft>
            </a:pPr>
            <a:r>
              <a:rPr sz="1700" b="1" i="0">
                <a:solidFill>
                  <a:srgbClr val="F43F5E"/>
                </a:solidFill>
                <a:latin typeface="Helvetica Neue"/>
              </a:rPr>
              <a:t>—  </a:t>
            </a:r>
            <a:r>
              <a:rPr sz="1700" b="0" i="0">
                <a:solidFill>
                  <a:srgbClr val="0F172A"/>
                </a:solidFill>
                <a:latin typeface="Helvetica Neue"/>
              </a:rPr>
              <a:t>You'll get someone's default</a:t>
            </a:r>
          </a:p>
        </p:txBody>
      </p:sp>
      <p:sp>
        <p:nvSpPr>
          <p:cNvPr id="13" name="Rounded Rectangle 12"/>
          <p:cNvSpPr/>
          <p:nvPr/>
        </p:nvSpPr>
        <p:spPr>
          <a:xfrm>
            <a:off x="6080760" y="2926080"/>
            <a:ext cx="5257800" cy="306324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3246120"/>
            <a:ext cx="45720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447288"/>
            <a:ext cx="457200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FFFFFF"/>
                </a:solidFill>
                <a:latin typeface="Helvetica Neue"/>
              </a:rPr>
              <a:t>Strong prompt</a:t>
            </a:r>
          </a:p>
        </p:txBody>
      </p:sp>
      <p:sp>
        <p:nvSpPr>
          <p:cNvPr id="16" name="TextBox 15"/>
          <p:cNvSpPr txBox="1"/>
          <p:nvPr/>
        </p:nvSpPr>
        <p:spPr>
          <a:xfrm>
            <a:off x="6400800" y="4069080"/>
            <a:ext cx="475488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10B981"/>
                </a:solidFill>
                <a:latin typeface="Helvetica Neue"/>
              </a:rPr>
              <a:t>—  </a:t>
            </a:r>
            <a:r>
              <a:rPr sz="1700" b="0" i="0">
                <a:solidFill>
                  <a:srgbClr val="F1F5F9"/>
                </a:solidFill>
                <a:latin typeface="Helvetica Neue"/>
              </a:rPr>
              <a:t>State the goal and the rules</a:t>
            </a:r>
          </a:p>
          <a:p>
            <a:pPr algn="l">
              <a:lnSpc>
                <a:spcPct val="110000"/>
              </a:lnSpc>
              <a:spcBef>
                <a:spcPts val="0"/>
              </a:spcBef>
              <a:spcAft>
                <a:spcPts val="1300"/>
              </a:spcAft>
            </a:pPr>
            <a:r>
              <a:rPr sz="1700" b="1" i="0">
                <a:solidFill>
                  <a:srgbClr val="10B981"/>
                </a:solidFill>
                <a:latin typeface="Helvetica Neue"/>
              </a:rPr>
              <a:t>—  </a:t>
            </a:r>
            <a:r>
              <a:rPr sz="1700" b="0" i="0">
                <a:solidFill>
                  <a:srgbClr val="F1F5F9"/>
                </a:solidFill>
                <a:latin typeface="Helvetica Neue"/>
              </a:rPr>
              <a:t>Name the design: 'depend on a Repository port'</a:t>
            </a:r>
          </a:p>
          <a:p>
            <a:pPr algn="l">
              <a:lnSpc>
                <a:spcPct val="110000"/>
              </a:lnSpc>
              <a:spcBef>
                <a:spcPts val="0"/>
              </a:spcBef>
              <a:spcAft>
                <a:spcPts val="1300"/>
              </a:spcAft>
            </a:pPr>
            <a:r>
              <a:rPr sz="1700" b="1" i="0">
                <a:solidFill>
                  <a:srgbClr val="10B981"/>
                </a:solidFill>
                <a:latin typeface="Helvetica Neue"/>
              </a:rPr>
              <a:t>—  </a:t>
            </a:r>
            <a:r>
              <a:rPr sz="1700" b="0" i="0">
                <a:solidFill>
                  <a:srgbClr val="F1F5F9"/>
                </a:solidFill>
                <a:latin typeface="Helvetica Neue"/>
              </a:rPr>
              <a:t>Point at the files and patterns to follow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Workflow</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Same Problem, Two Prompts</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9</a:t>
            </a:r>
          </a:p>
        </p:txBody>
      </p:sp>
      <p:sp>
        <p:nvSpPr>
          <p:cNvPr id="8" name="TextBox 7"/>
          <p:cNvSpPr txBox="1"/>
          <p:nvPr/>
        </p:nvSpPr>
        <p:spPr>
          <a:xfrm>
            <a:off x="822960" y="1627632"/>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1700" b="0" i="0">
                <a:solidFill>
                  <a:srgbClr val="475569"/>
                </a:solidFill>
                <a:latin typeface="Helvetica Neue"/>
              </a:rPr>
              <a:t>One business rule, handed to the agent twice — the second time with the design named:</a:t>
            </a:r>
          </a:p>
        </p:txBody>
      </p:sp>
      <p:sp>
        <p:nvSpPr>
          <p:cNvPr id="9" name="Rounded Rectangle 8"/>
          <p:cNvSpPr/>
          <p:nvPr/>
        </p:nvSpPr>
        <p:spPr>
          <a:xfrm>
            <a:off x="822960" y="2103120"/>
            <a:ext cx="512064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103120"/>
            <a:ext cx="109728" cy="713232"/>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2176272"/>
            <a:ext cx="4572000" cy="237744"/>
          </a:xfrm>
          <a:prstGeom prst="rect">
            <a:avLst/>
          </a:prstGeom>
          <a:noFill/>
        </p:spPr>
        <p:txBody>
          <a:bodyPr wrap="none" anchor="t" lIns="0" rIns="0" tIns="0" bIns="0">
            <a:spAutoFit/>
          </a:bodyPr>
          <a:lstStyle/>
          <a:p>
            <a:pPr algn="l">
              <a:lnSpc>
                <a:spcPct val="100000"/>
              </a:lnSpc>
              <a:spcBef>
                <a:spcPts val="0"/>
              </a:spcBef>
              <a:spcAft>
                <a:spcPts val="600"/>
              </a:spcAft>
            </a:pPr>
            <a:r>
              <a:rPr sz="1200" b="1" i="0">
                <a:solidFill>
                  <a:srgbClr val="F43F5E"/>
                </a:solidFill>
                <a:latin typeface="Helvetica Neue"/>
              </a:rPr>
              <a:t>Prompt 1</a:t>
            </a:r>
          </a:p>
        </p:txBody>
      </p:sp>
      <p:sp>
        <p:nvSpPr>
          <p:cNvPr id="12" name="TextBox 11"/>
          <p:cNvSpPr txBox="1"/>
          <p:nvPr/>
        </p:nvSpPr>
        <p:spPr>
          <a:xfrm>
            <a:off x="1115568" y="2414016"/>
            <a:ext cx="4663440" cy="329184"/>
          </a:xfrm>
          <a:prstGeom prst="rect">
            <a:avLst/>
          </a:prstGeom>
          <a:noFill/>
        </p:spPr>
        <p:txBody>
          <a:bodyPr wrap="square" anchor="t" lIns="0" rIns="0" tIns="0" bIns="0">
            <a:spAutoFit/>
          </a:bodyPr>
          <a:lstStyle/>
          <a:p>
            <a:pPr algn="l">
              <a:lnSpc>
                <a:spcPct val="105000"/>
              </a:lnSpc>
              <a:spcBef>
                <a:spcPts val="0"/>
              </a:spcBef>
              <a:spcAft>
                <a:spcPts val="600"/>
              </a:spcAft>
            </a:pPr>
            <a:r>
              <a:rPr sz="1150" b="0" i="1">
                <a:solidFill>
                  <a:srgbClr val="475569"/>
                </a:solidFill>
                <a:latin typeface="Helvetica Neue"/>
              </a:rPr>
              <a:t>“Calculate the shipping fee: standard 5, express 15 + 1/kg, overnight 30 + 2/kg.”</a:t>
            </a:r>
          </a:p>
        </p:txBody>
      </p:sp>
      <p:sp>
        <p:nvSpPr>
          <p:cNvPr id="13" name="Rounded Rectangle 12"/>
          <p:cNvSpPr/>
          <p:nvPr/>
        </p:nvSpPr>
        <p:spPr>
          <a:xfrm>
            <a:off x="6217920" y="2103120"/>
            <a:ext cx="512064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2103120"/>
            <a:ext cx="109728"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2176272"/>
            <a:ext cx="4572000" cy="237744"/>
          </a:xfrm>
          <a:prstGeom prst="rect">
            <a:avLst/>
          </a:prstGeom>
          <a:noFill/>
        </p:spPr>
        <p:txBody>
          <a:bodyPr wrap="none" anchor="t" lIns="0" rIns="0" tIns="0" bIns="0">
            <a:spAutoFit/>
          </a:bodyPr>
          <a:lstStyle/>
          <a:p>
            <a:pPr algn="l">
              <a:lnSpc>
                <a:spcPct val="100000"/>
              </a:lnSpc>
              <a:spcBef>
                <a:spcPts val="0"/>
              </a:spcBef>
              <a:spcAft>
                <a:spcPts val="600"/>
              </a:spcAft>
            </a:pPr>
            <a:r>
              <a:rPr sz="1200" b="1" i="0">
                <a:solidFill>
                  <a:srgbClr val="10B981"/>
                </a:solidFill>
                <a:latin typeface="Helvetica Neue"/>
              </a:rPr>
              <a:t>Prompt 2</a:t>
            </a:r>
          </a:p>
        </p:txBody>
      </p:sp>
      <p:sp>
        <p:nvSpPr>
          <p:cNvPr id="16" name="TextBox 15"/>
          <p:cNvSpPr txBox="1"/>
          <p:nvPr/>
        </p:nvSpPr>
        <p:spPr>
          <a:xfrm>
            <a:off x="6510528" y="2414016"/>
            <a:ext cx="4663440" cy="329184"/>
          </a:xfrm>
          <a:prstGeom prst="rect">
            <a:avLst/>
          </a:prstGeom>
          <a:noFill/>
        </p:spPr>
        <p:txBody>
          <a:bodyPr wrap="square" anchor="t" lIns="0" rIns="0" tIns="0" bIns="0">
            <a:spAutoFit/>
          </a:bodyPr>
          <a:lstStyle/>
          <a:p>
            <a:pPr algn="l">
              <a:lnSpc>
                <a:spcPct val="105000"/>
              </a:lnSpc>
              <a:spcBef>
                <a:spcPts val="0"/>
              </a:spcBef>
              <a:spcAft>
                <a:spcPts val="600"/>
              </a:spcAft>
            </a:pPr>
            <a:r>
              <a:rPr sz="1150" b="0" i="1">
                <a:solidFill>
                  <a:srgbClr val="475569"/>
                </a:solidFill>
                <a:latin typeface="Helvetica Neue"/>
              </a:rPr>
              <a:t>“…the same, and implement it with the Strategy pattern.”</a:t>
            </a:r>
          </a:p>
        </p:txBody>
      </p:sp>
      <p:sp>
        <p:nvSpPr>
          <p:cNvPr id="17" name="Rounded Rectangle 16"/>
          <p:cNvSpPr/>
          <p:nvPr/>
        </p:nvSpPr>
        <p:spPr>
          <a:xfrm>
            <a:off x="822960" y="2944368"/>
            <a:ext cx="5120640" cy="2629357"/>
          </a:xfrm>
          <a:prstGeom prst="roundRect">
            <a:avLst>
              <a:gd name="adj" fmla="val 3000"/>
            </a:avLst>
          </a:prstGeom>
          <a:solidFill>
            <a:srgbClr val="0B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97280" y="3200400"/>
            <a:ext cx="1642262" cy="384048"/>
          </a:xfrm>
          <a:prstGeom prst="roundRect">
            <a:avLst>
              <a:gd name="adj" fmla="val 3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00400"/>
            <a:ext cx="1642262" cy="384048"/>
          </a:xfrm>
          <a:prstGeom prst="rect">
            <a:avLst/>
          </a:prstGeom>
          <a:noFill/>
        </p:spPr>
        <p:txBody>
          <a:bodyPr wrap="square" anchor="ctr" lIns="0" rIns="0" tIns="0" bIns="0">
            <a:spAutoFit/>
          </a:bodyPr>
          <a:lstStyle/>
          <a:p>
            <a:pPr algn="ctr">
              <a:lnSpc>
                <a:spcPct val="100000"/>
              </a:lnSpc>
              <a:spcBef>
                <a:spcPts val="0"/>
              </a:spcBef>
              <a:spcAft>
                <a:spcPts val="600"/>
              </a:spcAft>
            </a:pPr>
            <a:r>
              <a:rPr sz="1300" b="1" i="0">
                <a:solidFill>
                  <a:srgbClr val="0F172A"/>
                </a:solidFill>
                <a:latin typeface="Helvetica Neue"/>
              </a:rPr>
              <a:t>what you get</a:t>
            </a:r>
          </a:p>
        </p:txBody>
      </p:sp>
      <p:sp>
        <p:nvSpPr>
          <p:cNvPr id="20" name="TextBox 19"/>
          <p:cNvSpPr txBox="1"/>
          <p:nvPr/>
        </p:nvSpPr>
        <p:spPr>
          <a:xfrm>
            <a:off x="1143000" y="3721608"/>
            <a:ext cx="4480559" cy="1714957"/>
          </a:xfrm>
          <a:prstGeom prst="rect">
            <a:avLst/>
          </a:prstGeom>
          <a:noFill/>
        </p:spPr>
        <p:txBody>
          <a:bodyPr wrap="none" anchor="t" lIns="0" rIns="0" tIns="0" bIns="0">
            <a:spAutoFit/>
          </a:bodyPr>
          <a:lstStyle/>
          <a:p>
            <a:pPr algn="l">
              <a:lnSpc>
                <a:spcPct val="105000"/>
              </a:lnSpc>
              <a:spcBef>
                <a:spcPts val="0"/>
              </a:spcBef>
              <a:spcAft>
                <a:spcPts val="200"/>
              </a:spcAft>
            </a:pPr>
            <a:r>
              <a:rPr sz="1050" b="0" i="0">
                <a:solidFill>
                  <a:srgbClr val="F1F5F9"/>
                </a:solidFill>
                <a:latin typeface="Menlo"/>
              </a:rPr>
              <a:t>double fee(Order o) {</a:t>
            </a:r>
          </a:p>
          <a:p>
            <a:pPr algn="l">
              <a:lnSpc>
                <a:spcPct val="105000"/>
              </a:lnSpc>
              <a:spcBef>
                <a:spcPts val="0"/>
              </a:spcBef>
              <a:spcAft>
                <a:spcPts val="200"/>
              </a:spcAft>
            </a:pPr>
            <a:r>
              <a:rPr sz="1050" b="0" i="0">
                <a:solidFill>
                  <a:srgbClr val="F1F5F9"/>
                </a:solidFill>
                <a:latin typeface="Menlo"/>
              </a:rPr>
              <a:t>  if (o.method() == STANDARD)  return 5;</a:t>
            </a:r>
          </a:p>
          <a:p>
            <a:pPr algn="l">
              <a:lnSpc>
                <a:spcPct val="105000"/>
              </a:lnSpc>
              <a:spcBef>
                <a:spcPts val="0"/>
              </a:spcBef>
              <a:spcAft>
                <a:spcPts val="200"/>
              </a:spcAft>
            </a:pPr>
            <a:r>
              <a:rPr sz="1050" b="0" i="0">
                <a:solidFill>
                  <a:srgbClr val="F1F5F9"/>
                </a:solidFill>
                <a:latin typeface="Menlo"/>
              </a:rPr>
              <a:t>  if (o.method() == EXPRESS)   return 15 + o.kg();</a:t>
            </a:r>
          </a:p>
          <a:p>
            <a:pPr algn="l">
              <a:lnSpc>
                <a:spcPct val="105000"/>
              </a:lnSpc>
              <a:spcBef>
                <a:spcPts val="0"/>
              </a:spcBef>
              <a:spcAft>
                <a:spcPts val="200"/>
              </a:spcAft>
            </a:pPr>
            <a:r>
              <a:rPr sz="1050" b="0" i="0">
                <a:solidFill>
                  <a:srgbClr val="F1F5F9"/>
                </a:solidFill>
                <a:latin typeface="Menlo"/>
              </a:rPr>
              <a:t>  if (o.method() == OVERNIGHT) return 30 + o.kg()*2;</a:t>
            </a:r>
          </a:p>
          <a:p>
            <a:pPr algn="l">
              <a:lnSpc>
                <a:spcPct val="105000"/>
              </a:lnSpc>
              <a:spcBef>
                <a:spcPts val="0"/>
              </a:spcBef>
              <a:spcAft>
                <a:spcPts val="200"/>
              </a:spcAft>
            </a:pPr>
            <a:r>
              <a:rPr sz="1050" b="0" i="0">
                <a:solidFill>
                  <a:srgbClr val="F1F5F9"/>
                </a:solidFill>
                <a:latin typeface="Menlo"/>
              </a:rPr>
              <a:t>  throw new IllegalArgumentException(o.method());</a:t>
            </a:r>
          </a:p>
          <a:p>
            <a:pPr algn="l">
              <a:lnSpc>
                <a:spcPct val="105000"/>
              </a:lnSpc>
              <a:spcBef>
                <a:spcPts val="0"/>
              </a:spcBef>
              <a:spcAft>
                <a:spcPts val="200"/>
              </a:spcAft>
            </a:pPr>
            <a:r>
              <a:rPr sz="1050" b="0" i="0">
                <a:solidFill>
                  <a:srgbClr val="F1F5F9"/>
                </a:solidFill>
                <a:latin typeface="Menlo"/>
              </a:rPr>
              <a:t>}</a:t>
            </a:r>
          </a:p>
          <a:p>
            <a:pPr algn="l">
              <a:lnSpc>
                <a:spcPct val="105000"/>
              </a:lnSpc>
              <a:spcBef>
                <a:spcPts val="0"/>
              </a:spcBef>
              <a:spcAft>
                <a:spcPts val="200"/>
              </a:spcAft>
            </a:pPr>
            <a:r>
              <a:rPr sz="1050" b="0" i="0">
                <a:solidFill>
                  <a:srgbClr val="F1F5F9"/>
                </a:solidFill>
                <a:latin typeface="Menlo"/>
              </a:rPr>
              <a:t> </a:t>
            </a:r>
          </a:p>
          <a:p>
            <a:pPr algn="l">
              <a:lnSpc>
                <a:spcPct val="105000"/>
              </a:lnSpc>
              <a:spcBef>
                <a:spcPts val="0"/>
              </a:spcBef>
              <a:spcAft>
                <a:spcPts val="200"/>
              </a:spcAft>
            </a:pPr>
            <a:r>
              <a:rPr sz="1050" b="0" i="0">
                <a:solidFill>
                  <a:srgbClr val="10B981"/>
                </a:solidFill>
                <a:latin typeface="Menlo"/>
              </a:rPr>
              <a:t>// a new shipping method?</a:t>
            </a:r>
          </a:p>
          <a:p>
            <a:pPr algn="l">
              <a:lnSpc>
                <a:spcPct val="105000"/>
              </a:lnSpc>
              <a:spcBef>
                <a:spcPts val="0"/>
              </a:spcBef>
              <a:spcAft>
                <a:spcPts val="200"/>
              </a:spcAft>
            </a:pPr>
            <a:r>
              <a:rPr sz="1050" b="0" i="0">
                <a:solidFill>
                  <a:srgbClr val="10B981"/>
                </a:solidFill>
                <a:latin typeface="Menlo"/>
              </a:rPr>
              <a:t>// edit this method again</a:t>
            </a:r>
          </a:p>
        </p:txBody>
      </p:sp>
      <p:sp>
        <p:nvSpPr>
          <p:cNvPr id="21" name="Rounded Rectangle 20"/>
          <p:cNvSpPr/>
          <p:nvPr/>
        </p:nvSpPr>
        <p:spPr>
          <a:xfrm>
            <a:off x="6217920" y="2944368"/>
            <a:ext cx="5120640" cy="2629357"/>
          </a:xfrm>
          <a:prstGeom prst="roundRect">
            <a:avLst>
              <a:gd name="adj" fmla="val 3000"/>
            </a:avLst>
          </a:prstGeom>
          <a:solidFill>
            <a:srgbClr val="0B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3200400"/>
            <a:ext cx="1642262"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200400"/>
            <a:ext cx="1642262" cy="384048"/>
          </a:xfrm>
          <a:prstGeom prst="rect">
            <a:avLst/>
          </a:prstGeom>
          <a:noFill/>
        </p:spPr>
        <p:txBody>
          <a:bodyPr wrap="square" anchor="ctr" lIns="0" rIns="0" tIns="0" bIns="0">
            <a:spAutoFit/>
          </a:bodyPr>
          <a:lstStyle/>
          <a:p>
            <a:pPr algn="ctr">
              <a:lnSpc>
                <a:spcPct val="100000"/>
              </a:lnSpc>
              <a:spcBef>
                <a:spcPts val="0"/>
              </a:spcBef>
              <a:spcAft>
                <a:spcPts val="600"/>
              </a:spcAft>
            </a:pPr>
            <a:r>
              <a:rPr sz="1300" b="1" i="0">
                <a:solidFill>
                  <a:srgbClr val="0F172A"/>
                </a:solidFill>
                <a:latin typeface="Helvetica Neue"/>
              </a:rPr>
              <a:t>what you get</a:t>
            </a:r>
          </a:p>
        </p:txBody>
      </p:sp>
      <p:sp>
        <p:nvSpPr>
          <p:cNvPr id="24" name="TextBox 23"/>
          <p:cNvSpPr txBox="1"/>
          <p:nvPr/>
        </p:nvSpPr>
        <p:spPr>
          <a:xfrm>
            <a:off x="6537959" y="3721608"/>
            <a:ext cx="4480559" cy="1714957"/>
          </a:xfrm>
          <a:prstGeom prst="rect">
            <a:avLst/>
          </a:prstGeom>
          <a:noFill/>
        </p:spPr>
        <p:txBody>
          <a:bodyPr wrap="none" anchor="t" lIns="0" rIns="0" tIns="0" bIns="0">
            <a:spAutoFit/>
          </a:bodyPr>
          <a:lstStyle/>
          <a:p>
            <a:pPr algn="l">
              <a:lnSpc>
                <a:spcPct val="105000"/>
              </a:lnSpc>
              <a:spcBef>
                <a:spcPts val="0"/>
              </a:spcBef>
              <a:spcAft>
                <a:spcPts val="200"/>
              </a:spcAft>
            </a:pPr>
            <a:r>
              <a:rPr sz="1050" b="0" i="0">
                <a:solidFill>
                  <a:srgbClr val="F1F5F9"/>
                </a:solidFill>
                <a:latin typeface="Menlo"/>
              </a:rPr>
              <a:t>interface ShippingFee { double of(Order o); }</a:t>
            </a:r>
          </a:p>
          <a:p>
            <a:pPr algn="l">
              <a:lnSpc>
                <a:spcPct val="105000"/>
              </a:lnSpc>
              <a:spcBef>
                <a:spcPts val="0"/>
              </a:spcBef>
              <a:spcAft>
                <a:spcPts val="200"/>
              </a:spcAft>
            </a:pPr>
            <a:r>
              <a:rPr sz="1050" b="0" i="0">
                <a:solidFill>
                  <a:srgbClr val="F1F5F9"/>
                </a:solidFill>
                <a:latin typeface="Menlo"/>
              </a:rPr>
              <a:t> </a:t>
            </a:r>
          </a:p>
          <a:p>
            <a:pPr algn="l">
              <a:lnSpc>
                <a:spcPct val="105000"/>
              </a:lnSpc>
              <a:spcBef>
                <a:spcPts val="0"/>
              </a:spcBef>
              <a:spcAft>
                <a:spcPts val="200"/>
              </a:spcAft>
            </a:pPr>
            <a:r>
              <a:rPr sz="1050" b="0" i="0">
                <a:solidFill>
                  <a:srgbClr val="F1F5F9"/>
                </a:solidFill>
                <a:latin typeface="Menlo"/>
              </a:rPr>
              <a:t>class Standard implements ShippingFee {</a:t>
            </a:r>
          </a:p>
          <a:p>
            <a:pPr algn="l">
              <a:lnSpc>
                <a:spcPct val="105000"/>
              </a:lnSpc>
              <a:spcBef>
                <a:spcPts val="0"/>
              </a:spcBef>
              <a:spcAft>
                <a:spcPts val="200"/>
              </a:spcAft>
            </a:pPr>
            <a:r>
              <a:rPr sz="1050" b="0" i="0">
                <a:solidFill>
                  <a:srgbClr val="F1F5F9"/>
                </a:solidFill>
                <a:latin typeface="Menlo"/>
              </a:rPr>
              <a:t>  public double of(Order o){ return 5; } }</a:t>
            </a:r>
          </a:p>
          <a:p>
            <a:pPr algn="l">
              <a:lnSpc>
                <a:spcPct val="105000"/>
              </a:lnSpc>
              <a:spcBef>
                <a:spcPts val="0"/>
              </a:spcBef>
              <a:spcAft>
                <a:spcPts val="200"/>
              </a:spcAft>
            </a:pPr>
            <a:r>
              <a:rPr sz="1050" b="0" i="0">
                <a:solidFill>
                  <a:srgbClr val="F1F5F9"/>
                </a:solidFill>
                <a:latin typeface="Menlo"/>
              </a:rPr>
              <a:t>class Express implements ShippingFee {</a:t>
            </a:r>
          </a:p>
          <a:p>
            <a:pPr algn="l">
              <a:lnSpc>
                <a:spcPct val="105000"/>
              </a:lnSpc>
              <a:spcBef>
                <a:spcPts val="0"/>
              </a:spcBef>
              <a:spcAft>
                <a:spcPts val="200"/>
              </a:spcAft>
            </a:pPr>
            <a:r>
              <a:rPr sz="1050" b="0" i="0">
                <a:solidFill>
                  <a:srgbClr val="F1F5F9"/>
                </a:solidFill>
                <a:latin typeface="Menlo"/>
              </a:rPr>
              <a:t>  public double of(Order o){ return 15 + o.kg(); } }</a:t>
            </a:r>
          </a:p>
          <a:p>
            <a:pPr algn="l">
              <a:lnSpc>
                <a:spcPct val="105000"/>
              </a:lnSpc>
              <a:spcBef>
                <a:spcPts val="0"/>
              </a:spcBef>
              <a:spcAft>
                <a:spcPts val="200"/>
              </a:spcAft>
            </a:pPr>
            <a:r>
              <a:rPr sz="1050" b="0" i="0">
                <a:solidFill>
                  <a:srgbClr val="F1F5F9"/>
                </a:solidFill>
                <a:latin typeface="Menlo"/>
              </a:rPr>
              <a:t>class Overnight implements ShippingFee {</a:t>
            </a:r>
          </a:p>
          <a:p>
            <a:pPr algn="l">
              <a:lnSpc>
                <a:spcPct val="105000"/>
              </a:lnSpc>
              <a:spcBef>
                <a:spcPts val="0"/>
              </a:spcBef>
              <a:spcAft>
                <a:spcPts val="200"/>
              </a:spcAft>
            </a:pPr>
            <a:r>
              <a:rPr sz="1050" b="0" i="0">
                <a:solidFill>
                  <a:srgbClr val="F1F5F9"/>
                </a:solidFill>
                <a:latin typeface="Menlo"/>
              </a:rPr>
              <a:t>  public double of(Order o){ return 30 + o.kg()*2; } }</a:t>
            </a:r>
          </a:p>
          <a:p>
            <a:pPr algn="l">
              <a:lnSpc>
                <a:spcPct val="105000"/>
              </a:lnSpc>
              <a:spcBef>
                <a:spcPts val="0"/>
              </a:spcBef>
              <a:spcAft>
                <a:spcPts val="200"/>
              </a:spcAft>
            </a:pPr>
            <a:r>
              <a:rPr sz="1050" b="0" i="0">
                <a:solidFill>
                  <a:srgbClr val="10B981"/>
                </a:solidFill>
                <a:latin typeface="Menlo"/>
              </a:rPr>
              <a:t>// a new method = a new class; nothing above changes</a:t>
            </a:r>
          </a:p>
        </p:txBody>
      </p:sp>
      <p:sp>
        <p:nvSpPr>
          <p:cNvPr id="25" name="TextBox 24"/>
          <p:cNvSpPr txBox="1"/>
          <p:nvPr/>
        </p:nvSpPr>
        <p:spPr>
          <a:xfrm>
            <a:off x="822960" y="5669280"/>
            <a:ext cx="10515600" cy="347472"/>
          </a:xfrm>
          <a:prstGeom prst="rect">
            <a:avLst/>
          </a:prstGeom>
          <a:noFill/>
        </p:spPr>
        <p:txBody>
          <a:bodyPr wrap="square" anchor="t" lIns="0" rIns="0" tIns="0" bIns="0">
            <a:spAutoFit/>
          </a:bodyPr>
          <a:lstStyle/>
          <a:p>
            <a:pPr algn="l">
              <a:lnSpc>
                <a:spcPct val="100000"/>
              </a:lnSpc>
              <a:spcBef>
                <a:spcPts val="0"/>
              </a:spcBef>
              <a:spcAft>
                <a:spcPts val="600"/>
              </a:spcAft>
            </a:pPr>
            <a:r>
              <a:rPr sz="1550" b="1" i="0">
                <a:solidFill>
                  <a:srgbClr val="0F172A"/>
                </a:solidFill>
                <a:latin typeface="Helvetica Neue"/>
              </a:rPr>
              <a:t>Same behavior, same tests — one word of design in the prompt. </a:t>
            </a:r>
            <a:r>
              <a:rPr sz="1550" b="0" i="0">
                <a:solidFill>
                  <a:srgbClr val="475569"/>
                </a:solidFill>
                <a:latin typeface="Helvetica Neue"/>
              </a:rPr>
              <a:t>The agent had no opinion; you did.</a:t>
            </a:r>
          </a:p>
        </p:txBody>
      </p:sp>
      <p:sp>
        <p:nvSpPr>
          <p:cNvPr id="26" name="TextBox 25"/>
          <p:cNvSpPr txBox="1"/>
          <p:nvPr/>
        </p:nvSpPr>
        <p:spPr>
          <a:xfrm>
            <a:off x="822960" y="6016752"/>
            <a:ext cx="10515600" cy="310896"/>
          </a:xfrm>
          <a:prstGeom prst="rect">
            <a:avLst/>
          </a:prstGeom>
          <a:noFill/>
        </p:spPr>
        <p:txBody>
          <a:bodyPr wrap="square" anchor="t" lIns="0" rIns="0" tIns="0" bIns="0">
            <a:spAutoFit/>
          </a:bodyPr>
          <a:lstStyle/>
          <a:p>
            <a:pPr algn="l">
              <a:lnSpc>
                <a:spcPct val="100000"/>
              </a:lnSpc>
              <a:spcBef>
                <a:spcPts val="0"/>
              </a:spcBef>
              <a:spcAft>
                <a:spcPts val="600"/>
              </a:spcAft>
            </a:pPr>
            <a:r>
              <a:rPr sz="1250" b="0" i="1">
                <a:solidFill>
                  <a:srgbClr val="64748B"/>
                </a:solidFill>
                <a:latin typeface="Helvetica Neue"/>
              </a:rPr>
              <a:t>Which is why Phase 1 matters here: you can only ask for the design you can name.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Workflow</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Conversation Techniques</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10</a:t>
            </a:r>
          </a:p>
        </p:txBody>
      </p:sp>
      <p:sp>
        <p:nvSpPr>
          <p:cNvPr id="8" name="TextBox 7"/>
          <p:cNvSpPr txBox="1"/>
          <p:nvPr/>
        </p:nvSpPr>
        <p:spPr>
          <a:xfrm>
            <a:off x="822960" y="2103120"/>
            <a:ext cx="10515600" cy="4206240"/>
          </a:xfrm>
          <a:prstGeom prst="rect">
            <a:avLst/>
          </a:prstGeom>
          <a:noFill/>
        </p:spPr>
        <p:txBody>
          <a:bodyPr wrap="square" anchor="t" lIns="0" rIns="0" tIns="0" bIns="0">
            <a:spAutoFit/>
          </a:bodyPr>
          <a:lstStyle/>
          <a:p>
            <a:pPr algn="l">
              <a:lnSpc>
                <a:spcPct val="115000"/>
              </a:lnSpc>
              <a:spcBef>
                <a:spcPts val="0"/>
              </a:spcBef>
              <a:spcAft>
                <a:spcPts val="1600"/>
              </a:spcAft>
            </a:pPr>
            <a:r>
              <a:rPr sz="2100" b="1" i="0">
                <a:solidFill>
                  <a:srgbClr val="6366F1"/>
                </a:solidFill>
                <a:latin typeface="Helvetica Neue"/>
              </a:rPr>
              <a:t>—  </a:t>
            </a:r>
            <a:r>
              <a:rPr sz="2100" b="0" i="0">
                <a:solidFill>
                  <a:srgbClr val="0F172A"/>
                </a:solidFill>
                <a:latin typeface="Helvetica Neue"/>
              </a:rPr>
              <a:t>Work in small steps — review each before moving on.</a:t>
            </a:r>
          </a:p>
          <a:p>
            <a:pPr algn="l">
              <a:lnSpc>
                <a:spcPct val="115000"/>
              </a:lnSpc>
              <a:spcBef>
                <a:spcPts val="0"/>
              </a:spcBef>
              <a:spcAft>
                <a:spcPts val="1600"/>
              </a:spcAft>
            </a:pPr>
            <a:r>
              <a:rPr sz="2100" b="1" i="0">
                <a:solidFill>
                  <a:srgbClr val="6366F1"/>
                </a:solidFill>
                <a:latin typeface="Helvetica Neue"/>
              </a:rPr>
              <a:t>—  </a:t>
            </a:r>
            <a:r>
              <a:rPr sz="2100" b="0" i="0">
                <a:solidFill>
                  <a:srgbClr val="0F172A"/>
                </a:solidFill>
                <a:latin typeface="Helvetica Neue"/>
              </a:rPr>
              <a:t>Ask for 2–3 approaches with trade-offs before committing.</a:t>
            </a:r>
          </a:p>
          <a:p>
            <a:pPr algn="l">
              <a:lnSpc>
                <a:spcPct val="115000"/>
              </a:lnSpc>
              <a:spcBef>
                <a:spcPts val="0"/>
              </a:spcBef>
              <a:spcAft>
                <a:spcPts val="1600"/>
              </a:spcAft>
            </a:pPr>
            <a:r>
              <a:rPr sz="2100" b="1" i="0">
                <a:solidFill>
                  <a:srgbClr val="6366F1"/>
                </a:solidFill>
                <a:latin typeface="Helvetica Neue"/>
              </a:rPr>
              <a:t>—  </a:t>
            </a:r>
            <a:r>
              <a:rPr sz="2100" b="0" i="0">
                <a:solidFill>
                  <a:srgbClr val="0F172A"/>
                </a:solidFill>
                <a:latin typeface="Helvetica Neue"/>
              </a:rPr>
              <a:t>Make it explain its design; if it can't, that's a red flag.</a:t>
            </a:r>
          </a:p>
          <a:p>
            <a:pPr algn="l">
              <a:lnSpc>
                <a:spcPct val="115000"/>
              </a:lnSpc>
              <a:spcBef>
                <a:spcPts val="0"/>
              </a:spcBef>
              <a:spcAft>
                <a:spcPts val="1600"/>
              </a:spcAft>
            </a:pPr>
            <a:r>
              <a:rPr sz="2100" b="1" i="0">
                <a:solidFill>
                  <a:srgbClr val="6366F1"/>
                </a:solidFill>
                <a:latin typeface="Helvetica Neue"/>
              </a:rPr>
              <a:t>—  </a:t>
            </a:r>
            <a:r>
              <a:rPr sz="2100" b="0" i="0">
                <a:solidFill>
                  <a:srgbClr val="0F172A"/>
                </a:solidFill>
                <a:latin typeface="Helvetica Neue"/>
              </a:rPr>
              <a:t>Correct course early — don't let a bad direction compound.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Workflow</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Context Engineering</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11</a:t>
            </a:r>
          </a:p>
        </p:txBody>
      </p:sp>
      <p:sp>
        <p:nvSpPr>
          <p:cNvPr id="8" name="TextBox 7"/>
          <p:cNvSpPr txBox="1"/>
          <p:nvPr/>
        </p:nvSpPr>
        <p:spPr>
          <a:xfrm>
            <a:off x="822960" y="169164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1800" b="0" i="0">
                <a:solidFill>
                  <a:srgbClr val="475569"/>
                </a:solidFill>
                <a:latin typeface="Helvetica Neue"/>
              </a:rPr>
              <a:t>Prompting is one line of it. Context engineering is deciding everything the model can see when it answers — and, just as deliberately, what it must not.</a:t>
            </a:r>
          </a:p>
        </p:txBody>
      </p:sp>
      <p:sp>
        <p:nvSpPr>
          <p:cNvPr id="9" name="Rounded Rectangle 8"/>
          <p:cNvSpPr/>
          <p:nvPr/>
        </p:nvSpPr>
        <p:spPr>
          <a:xfrm>
            <a:off x="822960" y="2743200"/>
            <a:ext cx="5029200" cy="3063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3063240"/>
            <a:ext cx="45720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264408"/>
            <a:ext cx="448056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0F172A"/>
                </a:solidFill>
                <a:latin typeface="Helvetica Neue"/>
              </a:rPr>
              <a:t>Give it</a:t>
            </a:r>
          </a:p>
        </p:txBody>
      </p:sp>
      <p:sp>
        <p:nvSpPr>
          <p:cNvPr id="12" name="TextBox 11"/>
          <p:cNvSpPr txBox="1"/>
          <p:nvPr/>
        </p:nvSpPr>
        <p:spPr>
          <a:xfrm>
            <a:off x="1143000" y="3886200"/>
            <a:ext cx="448056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10B981"/>
                </a:solidFill>
                <a:latin typeface="Helvetica Neue"/>
              </a:rPr>
              <a:t>—  </a:t>
            </a:r>
            <a:r>
              <a:rPr sz="1700" b="0" i="0">
                <a:solidFill>
                  <a:srgbClr val="0F172A"/>
                </a:solidFill>
                <a:latin typeface="Helvetica Neue"/>
              </a:rPr>
              <a:t>The files that matter for this task</a:t>
            </a:r>
          </a:p>
          <a:p>
            <a:pPr algn="l">
              <a:lnSpc>
                <a:spcPct val="110000"/>
              </a:lnSpc>
              <a:spcBef>
                <a:spcPts val="0"/>
              </a:spcBef>
              <a:spcAft>
                <a:spcPts val="1300"/>
              </a:spcAft>
            </a:pPr>
            <a:r>
              <a:rPr sz="1700" b="1" i="0">
                <a:solidFill>
                  <a:srgbClr val="10B981"/>
                </a:solidFill>
                <a:latin typeface="Helvetica Neue"/>
              </a:rPr>
              <a:t>—  </a:t>
            </a:r>
            <a:r>
              <a:rPr sz="1700" b="0" i="0">
                <a:solidFill>
                  <a:srgbClr val="0F172A"/>
                </a:solidFill>
                <a:latin typeface="Helvetica Neue"/>
              </a:rPr>
              <a:t>Project conventions &amp; standards</a:t>
            </a:r>
          </a:p>
          <a:p>
            <a:pPr algn="l">
              <a:lnSpc>
                <a:spcPct val="110000"/>
              </a:lnSpc>
              <a:spcBef>
                <a:spcPts val="0"/>
              </a:spcBef>
              <a:spcAft>
                <a:spcPts val="1300"/>
              </a:spcAft>
            </a:pPr>
            <a:r>
              <a:rPr sz="1700" b="1" i="0">
                <a:solidFill>
                  <a:srgbClr val="10B981"/>
                </a:solidFill>
                <a:latin typeface="Helvetica Neue"/>
              </a:rPr>
              <a:t>—  </a:t>
            </a:r>
            <a:r>
              <a:rPr sz="1700" b="0" i="0">
                <a:solidFill>
                  <a:srgbClr val="0F172A"/>
                </a:solidFill>
                <a:latin typeface="Helvetica Neue"/>
              </a:rPr>
              <a:t>Examples of the style you want</a:t>
            </a:r>
          </a:p>
        </p:txBody>
      </p:sp>
      <p:sp>
        <p:nvSpPr>
          <p:cNvPr id="13" name="Rounded Rectangle 12"/>
          <p:cNvSpPr/>
          <p:nvPr/>
        </p:nvSpPr>
        <p:spPr>
          <a:xfrm>
            <a:off x="6080760" y="2743200"/>
            <a:ext cx="5257800" cy="3063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3063240"/>
            <a:ext cx="457200" cy="10972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264408"/>
            <a:ext cx="457200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0F172A"/>
                </a:solidFill>
                <a:latin typeface="Helvetica Neue"/>
              </a:rPr>
              <a:t>Spare it</a:t>
            </a:r>
          </a:p>
        </p:txBody>
      </p:sp>
      <p:sp>
        <p:nvSpPr>
          <p:cNvPr id="16" name="TextBox 15"/>
          <p:cNvSpPr txBox="1"/>
          <p:nvPr/>
        </p:nvSpPr>
        <p:spPr>
          <a:xfrm>
            <a:off x="6400800" y="3886200"/>
            <a:ext cx="475488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F43F5E"/>
                </a:solidFill>
                <a:latin typeface="Helvetica Neue"/>
              </a:rPr>
              <a:t>—  </a:t>
            </a:r>
            <a:r>
              <a:rPr sz="1700" b="0" i="0">
                <a:solidFill>
                  <a:srgbClr val="0F172A"/>
                </a:solidFill>
                <a:latin typeface="Helvetica Neue"/>
              </a:rPr>
              <a:t>The entire repository at once</a:t>
            </a:r>
          </a:p>
          <a:p>
            <a:pPr algn="l">
              <a:lnSpc>
                <a:spcPct val="110000"/>
              </a:lnSpc>
              <a:spcBef>
                <a:spcPts val="0"/>
              </a:spcBef>
              <a:spcAft>
                <a:spcPts val="1300"/>
              </a:spcAft>
            </a:pPr>
            <a:r>
              <a:rPr sz="1700" b="1" i="0">
                <a:solidFill>
                  <a:srgbClr val="F43F5E"/>
                </a:solidFill>
                <a:latin typeface="Helvetica Neue"/>
              </a:rPr>
              <a:t>—  </a:t>
            </a:r>
            <a:r>
              <a:rPr sz="1700" b="0" i="0">
                <a:solidFill>
                  <a:srgbClr val="0F172A"/>
                </a:solidFill>
                <a:latin typeface="Helvetica Neue"/>
              </a:rPr>
              <a:t>Irrelevant history and noise</a:t>
            </a:r>
          </a:p>
          <a:p>
            <a:pPr algn="l">
              <a:lnSpc>
                <a:spcPct val="110000"/>
              </a:lnSpc>
              <a:spcBef>
                <a:spcPts val="0"/>
              </a:spcBef>
              <a:spcAft>
                <a:spcPts val="1300"/>
              </a:spcAft>
            </a:pPr>
            <a:r>
              <a:rPr sz="1700" b="1" i="0">
                <a:solidFill>
                  <a:srgbClr val="F43F5E"/>
                </a:solidFill>
                <a:latin typeface="Helvetica Neue"/>
              </a:rPr>
              <a:t>—  </a:t>
            </a:r>
            <a:r>
              <a:rPr sz="1700" b="0" i="0">
                <a:solidFill>
                  <a:srgbClr val="0F172A"/>
                </a:solidFill>
                <a:latin typeface="Helvetica Neue"/>
              </a:rPr>
              <a:t>Ambiguity about what 'done' means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Workflow</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Five Moves for Context</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12</a:t>
            </a:r>
          </a:p>
        </p:txBody>
      </p:sp>
      <p:sp>
        <p:nvSpPr>
          <p:cNvPr id="8" name="TextBox 7"/>
          <p:cNvSpPr txBox="1"/>
          <p:nvPr/>
        </p:nvSpPr>
        <p:spPr>
          <a:xfrm>
            <a:off x="822960" y="164592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1700" b="0" i="0">
                <a:solidFill>
                  <a:srgbClr val="475569"/>
                </a:solidFill>
                <a:latin typeface="Helvetica Neue"/>
              </a:rPr>
              <a:t>The window is finite and everything in it competes for attention. These are the moves you actually make:</a:t>
            </a:r>
          </a:p>
        </p:txBody>
      </p:sp>
      <p:sp>
        <p:nvSpPr>
          <p:cNvPr id="9" name="Rounded Rectangle 8"/>
          <p:cNvSpPr/>
          <p:nvPr/>
        </p:nvSpPr>
        <p:spPr>
          <a:xfrm>
            <a:off x="822960" y="2240280"/>
            <a:ext cx="10515600" cy="65836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240280"/>
            <a:ext cx="109728" cy="65836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2313432"/>
            <a:ext cx="9966960" cy="256032"/>
          </a:xfrm>
          <a:prstGeom prst="rect">
            <a:avLst/>
          </a:prstGeom>
          <a:noFill/>
        </p:spPr>
        <p:txBody>
          <a:bodyPr wrap="none" anchor="t" lIns="0" rIns="0" tIns="0" bIns="0">
            <a:spAutoFit/>
          </a:bodyPr>
          <a:lstStyle/>
          <a:p>
            <a:pPr algn="l">
              <a:lnSpc>
                <a:spcPct val="100000"/>
              </a:lnSpc>
              <a:spcBef>
                <a:spcPts val="0"/>
              </a:spcBef>
              <a:spcAft>
                <a:spcPts val="600"/>
              </a:spcAft>
            </a:pPr>
            <a:r>
              <a:rPr sz="1400" b="1" i="0">
                <a:solidFill>
                  <a:srgbClr val="6366F1"/>
                </a:solidFill>
                <a:latin typeface="Helvetica Neue"/>
              </a:rPr>
              <a:t>Select</a:t>
            </a:r>
          </a:p>
        </p:txBody>
      </p:sp>
      <p:sp>
        <p:nvSpPr>
          <p:cNvPr id="12" name="TextBox 11"/>
          <p:cNvSpPr txBox="1"/>
          <p:nvPr/>
        </p:nvSpPr>
        <p:spPr>
          <a:xfrm>
            <a:off x="1207008" y="2578608"/>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250" b="0" i="1">
                <a:solidFill>
                  <a:srgbClr val="475569"/>
                </a:solidFill>
                <a:latin typeface="Helvetica Neue"/>
              </a:rPr>
              <a:t>The files and conventions this task needs — not the whole repository. Precision beats volume.</a:t>
            </a:r>
          </a:p>
        </p:txBody>
      </p:sp>
      <p:sp>
        <p:nvSpPr>
          <p:cNvPr id="13" name="Rounded Rectangle 12"/>
          <p:cNvSpPr/>
          <p:nvPr/>
        </p:nvSpPr>
        <p:spPr>
          <a:xfrm>
            <a:off x="822960" y="2980944"/>
            <a:ext cx="10515600" cy="65836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2980944"/>
            <a:ext cx="109728"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8" y="3054096"/>
            <a:ext cx="9966960" cy="256032"/>
          </a:xfrm>
          <a:prstGeom prst="rect">
            <a:avLst/>
          </a:prstGeom>
          <a:noFill/>
        </p:spPr>
        <p:txBody>
          <a:bodyPr wrap="none" anchor="t" lIns="0" rIns="0" tIns="0" bIns="0">
            <a:spAutoFit/>
          </a:bodyPr>
          <a:lstStyle/>
          <a:p>
            <a:pPr algn="l">
              <a:lnSpc>
                <a:spcPct val="100000"/>
              </a:lnSpc>
              <a:spcBef>
                <a:spcPts val="0"/>
              </a:spcBef>
              <a:spcAft>
                <a:spcPts val="600"/>
              </a:spcAft>
            </a:pPr>
            <a:r>
              <a:rPr sz="1400" b="1" i="0">
                <a:solidFill>
                  <a:srgbClr val="22D3EE"/>
                </a:solidFill>
                <a:latin typeface="Helvetica Neue"/>
              </a:rPr>
              <a:t>Persist</a:t>
            </a:r>
          </a:p>
        </p:txBody>
      </p:sp>
      <p:sp>
        <p:nvSpPr>
          <p:cNvPr id="16" name="TextBox 15"/>
          <p:cNvSpPr txBox="1"/>
          <p:nvPr/>
        </p:nvSpPr>
        <p:spPr>
          <a:xfrm>
            <a:off x="1207008" y="3319272"/>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250" b="0" i="1">
                <a:solidFill>
                  <a:srgbClr val="475569"/>
                </a:solidFill>
                <a:latin typeface="Helvetica Neue"/>
              </a:rPr>
              <a:t>Put standing rules in project instructions (CLAUDE.md, AGENTS.md) so you never retype them.</a:t>
            </a:r>
          </a:p>
        </p:txBody>
      </p:sp>
      <p:sp>
        <p:nvSpPr>
          <p:cNvPr id="17" name="Rounded Rectangle 16"/>
          <p:cNvSpPr/>
          <p:nvPr/>
        </p:nvSpPr>
        <p:spPr>
          <a:xfrm>
            <a:off x="822960" y="3721608"/>
            <a:ext cx="10515600" cy="65836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3721608"/>
            <a:ext cx="109728"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7008" y="3794760"/>
            <a:ext cx="9966960" cy="256032"/>
          </a:xfrm>
          <a:prstGeom prst="rect">
            <a:avLst/>
          </a:prstGeom>
          <a:noFill/>
        </p:spPr>
        <p:txBody>
          <a:bodyPr wrap="none" anchor="t" lIns="0" rIns="0" tIns="0" bIns="0">
            <a:spAutoFit/>
          </a:bodyPr>
          <a:lstStyle/>
          <a:p>
            <a:pPr algn="l">
              <a:lnSpc>
                <a:spcPct val="100000"/>
              </a:lnSpc>
              <a:spcBef>
                <a:spcPts val="0"/>
              </a:spcBef>
              <a:spcAft>
                <a:spcPts val="600"/>
              </a:spcAft>
            </a:pPr>
            <a:r>
              <a:rPr sz="1400" b="1" i="0">
                <a:solidFill>
                  <a:srgbClr val="F59E0B"/>
                </a:solidFill>
                <a:latin typeface="Helvetica Neue"/>
              </a:rPr>
              <a:t>Retrieve</a:t>
            </a:r>
          </a:p>
        </p:txBody>
      </p:sp>
      <p:sp>
        <p:nvSpPr>
          <p:cNvPr id="20" name="TextBox 19"/>
          <p:cNvSpPr txBox="1"/>
          <p:nvPr/>
        </p:nvSpPr>
        <p:spPr>
          <a:xfrm>
            <a:off x="1207008" y="4059936"/>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250" b="0" i="1">
                <a:solidFill>
                  <a:srgbClr val="475569"/>
                </a:solidFill>
                <a:latin typeface="Helvetica Neue"/>
              </a:rPr>
              <a:t>Let it search and read the code itself. Freshly read beats pasted and stale.</a:t>
            </a:r>
          </a:p>
        </p:txBody>
      </p:sp>
      <p:sp>
        <p:nvSpPr>
          <p:cNvPr id="21" name="Rounded Rectangle 20"/>
          <p:cNvSpPr/>
          <p:nvPr/>
        </p:nvSpPr>
        <p:spPr>
          <a:xfrm>
            <a:off x="822960" y="4462272"/>
            <a:ext cx="10515600" cy="65836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462272"/>
            <a:ext cx="109728"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7008" y="4535424"/>
            <a:ext cx="9966960" cy="256032"/>
          </a:xfrm>
          <a:prstGeom prst="rect">
            <a:avLst/>
          </a:prstGeom>
          <a:noFill/>
        </p:spPr>
        <p:txBody>
          <a:bodyPr wrap="none" anchor="t" lIns="0" rIns="0" tIns="0" bIns="0">
            <a:spAutoFit/>
          </a:bodyPr>
          <a:lstStyle/>
          <a:p>
            <a:pPr algn="l">
              <a:lnSpc>
                <a:spcPct val="100000"/>
              </a:lnSpc>
              <a:spcBef>
                <a:spcPts val="0"/>
              </a:spcBef>
              <a:spcAft>
                <a:spcPts val="600"/>
              </a:spcAft>
            </a:pPr>
            <a:r>
              <a:rPr sz="1400" b="1" i="0">
                <a:solidFill>
                  <a:srgbClr val="10B981"/>
                </a:solidFill>
                <a:latin typeface="Helvetica Neue"/>
              </a:rPr>
              <a:t>Compact</a:t>
            </a:r>
          </a:p>
        </p:txBody>
      </p:sp>
      <p:sp>
        <p:nvSpPr>
          <p:cNvPr id="24" name="TextBox 23"/>
          <p:cNvSpPr txBox="1"/>
          <p:nvPr/>
        </p:nvSpPr>
        <p:spPr>
          <a:xfrm>
            <a:off x="1207008" y="4800600"/>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250" b="0" i="1">
                <a:solidFill>
                  <a:srgbClr val="475569"/>
                </a:solidFill>
                <a:latin typeface="Helvetica Neue"/>
              </a:rPr>
              <a:t>Summarize, prune, or start a clean thread when the conversation has wandered.</a:t>
            </a:r>
          </a:p>
        </p:txBody>
      </p:sp>
      <p:sp>
        <p:nvSpPr>
          <p:cNvPr id="25" name="Rounded Rectangle 24"/>
          <p:cNvSpPr/>
          <p:nvPr/>
        </p:nvSpPr>
        <p:spPr>
          <a:xfrm>
            <a:off x="822960" y="5202936"/>
            <a:ext cx="10515600" cy="658368"/>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 y="5202936"/>
            <a:ext cx="109728" cy="65836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7008" y="5276088"/>
            <a:ext cx="9966960" cy="256032"/>
          </a:xfrm>
          <a:prstGeom prst="rect">
            <a:avLst/>
          </a:prstGeom>
          <a:noFill/>
        </p:spPr>
        <p:txBody>
          <a:bodyPr wrap="none" anchor="t" lIns="0" rIns="0" tIns="0" bIns="0">
            <a:spAutoFit/>
          </a:bodyPr>
          <a:lstStyle/>
          <a:p>
            <a:pPr algn="l">
              <a:lnSpc>
                <a:spcPct val="100000"/>
              </a:lnSpc>
              <a:spcBef>
                <a:spcPts val="0"/>
              </a:spcBef>
              <a:spcAft>
                <a:spcPts val="600"/>
              </a:spcAft>
            </a:pPr>
            <a:r>
              <a:rPr sz="1400" b="1" i="0">
                <a:solidFill>
                  <a:srgbClr val="F43F5E"/>
                </a:solidFill>
                <a:latin typeface="Helvetica Neue"/>
              </a:rPr>
              <a:t>Isolate</a:t>
            </a:r>
          </a:p>
        </p:txBody>
      </p:sp>
      <p:sp>
        <p:nvSpPr>
          <p:cNvPr id="28" name="TextBox 27"/>
          <p:cNvSpPr txBox="1"/>
          <p:nvPr/>
        </p:nvSpPr>
        <p:spPr>
          <a:xfrm>
            <a:off x="1207008" y="5541264"/>
            <a:ext cx="9966960" cy="274320"/>
          </a:xfrm>
          <a:prstGeom prst="rect">
            <a:avLst/>
          </a:prstGeom>
          <a:noFill/>
        </p:spPr>
        <p:txBody>
          <a:bodyPr wrap="none" anchor="t" lIns="0" rIns="0" tIns="0" bIns="0">
            <a:spAutoFit/>
          </a:bodyPr>
          <a:lstStyle/>
          <a:p>
            <a:pPr algn="l">
              <a:lnSpc>
                <a:spcPct val="100000"/>
              </a:lnSpc>
              <a:spcBef>
                <a:spcPts val="0"/>
              </a:spcBef>
              <a:spcAft>
                <a:spcPts val="600"/>
              </a:spcAft>
            </a:pPr>
            <a:r>
              <a:rPr sz="1250" b="0" i="1">
                <a:solidFill>
                  <a:srgbClr val="475569"/>
                </a:solidFill>
                <a:latin typeface="Helvetica Neue"/>
              </a:rPr>
              <a:t>Give a self-contained sub-task its own sub-agent and context, so the main thread stays clean.</a:t>
            </a:r>
          </a:p>
        </p:txBody>
      </p:sp>
      <p:sp>
        <p:nvSpPr>
          <p:cNvPr id="29" name="TextBox 28"/>
          <p:cNvSpPr txBox="1"/>
          <p:nvPr/>
        </p:nvSpPr>
        <p:spPr>
          <a:xfrm>
            <a:off x="822960" y="5943600"/>
            <a:ext cx="10515600" cy="384048"/>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6366F1"/>
                </a:solidFill>
                <a:latin typeface="Helvetica Neue"/>
              </a:rPr>
              <a:t>Poor output is usually a context problem before it is a model problem.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F59E0B"/>
                </a:solidFill>
                <a:latin typeface="Helvetica Neue"/>
              </a:rPr>
              <a:t>Section 02</a:t>
            </a:r>
          </a:p>
        </p:txBody>
      </p:sp>
      <p:sp>
        <p:nvSpPr>
          <p:cNvPr id="5" name="TextBox 4"/>
          <p:cNvSpPr txBox="1"/>
          <p:nvPr/>
        </p:nvSpPr>
        <p:spPr>
          <a:xfrm>
            <a:off x="786384" y="2743200"/>
            <a:ext cx="10789920" cy="1188720"/>
          </a:xfrm>
          <a:prstGeom prst="rect">
            <a:avLst/>
          </a:prstGeom>
          <a:noFill/>
        </p:spPr>
        <p:txBody>
          <a:bodyPr wrap="square" anchor="t" lIns="0" rIns="0" tIns="0" bIns="0">
            <a:spAutoFit/>
          </a:bodyPr>
          <a:lstStyle/>
          <a:p>
            <a:pPr algn="l">
              <a:lnSpc>
                <a:spcPct val="100000"/>
              </a:lnSpc>
              <a:spcBef>
                <a:spcPts val="0"/>
              </a:spcBef>
              <a:spcAft>
                <a:spcPts val="600"/>
              </a:spcAft>
            </a:pPr>
            <a:r>
              <a:rPr sz="4600" b="1" i="0">
                <a:solidFill>
                  <a:srgbClr val="FFFFFF"/>
                </a:solidFill>
                <a:latin typeface="Helvetica Neue"/>
              </a:rPr>
              <a:t>Staying in Control</a:t>
            </a:r>
          </a:p>
        </p:txBody>
      </p:sp>
      <p:sp>
        <p:nvSpPr>
          <p:cNvPr id="6" name="TextBox 5"/>
          <p:cNvSpPr txBox="1"/>
          <p:nvPr/>
        </p:nvSpPr>
        <p:spPr>
          <a:xfrm>
            <a:off x="822960" y="3977639"/>
            <a:ext cx="10424160" cy="914400"/>
          </a:xfrm>
          <a:prstGeom prst="rect">
            <a:avLst/>
          </a:prstGeom>
          <a:noFill/>
        </p:spPr>
        <p:txBody>
          <a:bodyPr wrap="square" anchor="t" lIns="0" rIns="0" tIns="0" bIns="0">
            <a:spAutoFit/>
          </a:bodyPr>
          <a:lstStyle/>
          <a:p>
            <a:pPr algn="l">
              <a:lnSpc>
                <a:spcPct val="115000"/>
              </a:lnSpc>
              <a:spcBef>
                <a:spcPts val="0"/>
              </a:spcBef>
              <a:spcAft>
                <a:spcPts val="600"/>
              </a:spcAft>
            </a:pPr>
            <a:r>
              <a:rPr sz="2300" b="0" i="1">
                <a:solidFill>
                  <a:srgbClr val="CBD5E1"/>
                </a:solidFill>
                <a:latin typeface="Helvetica Neue"/>
              </a:rPr>
              <a:t>The agent is fast. You are responsible.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59E0B"/>
                </a:solidFill>
                <a:latin typeface="Helvetica Neue"/>
              </a:rPr>
              <a:t>Control</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Review With Your Design Vocabulary</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14</a:t>
            </a:r>
          </a:p>
        </p:txBody>
      </p:sp>
      <p:sp>
        <p:nvSpPr>
          <p:cNvPr id="8" name="TextBox 7"/>
          <p:cNvSpPr txBox="1"/>
          <p:nvPr/>
        </p:nvSpPr>
        <p:spPr>
          <a:xfrm>
            <a:off x="822960" y="182880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2300" b="0" i="0">
                <a:solidFill>
                  <a:srgbClr val="475569"/>
                </a:solidFill>
                <a:latin typeface="Helvetica Neue"/>
              </a:rPr>
              <a:t>This is why Phase 1 matters. You review AI output through the same lens you'd use on a colleague's pull request.</a:t>
            </a:r>
          </a:p>
        </p:txBody>
      </p:sp>
      <p:sp>
        <p:nvSpPr>
          <p:cNvPr id="9" name="TextBox 8"/>
          <p:cNvSpPr txBox="1"/>
          <p:nvPr/>
        </p:nvSpPr>
        <p:spPr>
          <a:xfrm>
            <a:off x="822960" y="2743200"/>
            <a:ext cx="10515600" cy="4206240"/>
          </a:xfrm>
          <a:prstGeom prst="rect">
            <a:avLst/>
          </a:prstGeom>
          <a:noFill/>
        </p:spPr>
        <p:txBody>
          <a:bodyPr wrap="square" anchor="t" lIns="0" rIns="0" tIns="0" bIns="0">
            <a:spAutoFit/>
          </a:bodyPr>
          <a:lstStyle/>
          <a:p>
            <a:pPr algn="l">
              <a:lnSpc>
                <a:spcPct val="115000"/>
              </a:lnSpc>
              <a:spcBef>
                <a:spcPts val="0"/>
              </a:spcBef>
              <a:spcAft>
                <a:spcPts val="1300"/>
              </a:spcAft>
            </a:pPr>
            <a:r>
              <a:rPr sz="1900" b="1" i="0">
                <a:solidFill>
                  <a:srgbClr val="F59E0B"/>
                </a:solidFill>
                <a:latin typeface="Helvetica Neue"/>
              </a:rPr>
              <a:t>—  </a:t>
            </a:r>
            <a:r>
              <a:rPr sz="1900" b="0" i="0">
                <a:solidFill>
                  <a:srgbClr val="0F172A"/>
                </a:solidFill>
                <a:latin typeface="Helvetica Neue"/>
              </a:rPr>
              <a:t>Cohesion &amp; coupling: is each part focused and independent?</a:t>
            </a:r>
          </a:p>
          <a:p>
            <a:pPr algn="l">
              <a:lnSpc>
                <a:spcPct val="115000"/>
              </a:lnSpc>
              <a:spcBef>
                <a:spcPts val="0"/>
              </a:spcBef>
              <a:spcAft>
                <a:spcPts val="1300"/>
              </a:spcAft>
            </a:pPr>
            <a:r>
              <a:rPr sz="1900" b="1" i="0">
                <a:solidFill>
                  <a:srgbClr val="F59E0B"/>
                </a:solidFill>
                <a:latin typeface="Helvetica Neue"/>
              </a:rPr>
              <a:t>—  </a:t>
            </a:r>
            <a:r>
              <a:rPr sz="1900" b="0" i="0">
                <a:solidFill>
                  <a:srgbClr val="0F172A"/>
                </a:solidFill>
                <a:latin typeface="Helvetica Neue"/>
              </a:rPr>
              <a:t>Stereotypes: an entity, a value object — or a service pretending?</a:t>
            </a:r>
          </a:p>
          <a:p>
            <a:pPr algn="l">
              <a:lnSpc>
                <a:spcPct val="115000"/>
              </a:lnSpc>
              <a:spcBef>
                <a:spcPts val="0"/>
              </a:spcBef>
              <a:spcAft>
                <a:spcPts val="1300"/>
              </a:spcAft>
            </a:pPr>
            <a:r>
              <a:rPr sz="1900" b="1" i="0">
                <a:solidFill>
                  <a:srgbClr val="F59E0B"/>
                </a:solidFill>
                <a:latin typeface="Helvetica Neue"/>
              </a:rPr>
              <a:t>—  </a:t>
            </a:r>
            <a:r>
              <a:rPr sz="1900" b="0" i="0">
                <a:solidFill>
                  <a:srgbClr val="0F172A"/>
                </a:solidFill>
                <a:latin typeface="Helvetica Neue"/>
              </a:rPr>
              <a:t>SOLID: any SRP or DIP violations sneaking in?</a:t>
            </a:r>
          </a:p>
          <a:p>
            <a:pPr algn="l">
              <a:lnSpc>
                <a:spcPct val="115000"/>
              </a:lnSpc>
              <a:spcBef>
                <a:spcPts val="0"/>
              </a:spcBef>
              <a:spcAft>
                <a:spcPts val="1300"/>
              </a:spcAft>
            </a:pPr>
            <a:r>
              <a:rPr sz="1900" b="1" i="0">
                <a:solidFill>
                  <a:srgbClr val="F59E0B"/>
                </a:solidFill>
                <a:latin typeface="Helvetica Neue"/>
              </a:rPr>
              <a:t>—  </a:t>
            </a:r>
            <a:r>
              <a:rPr sz="1900" b="0" i="0">
                <a:solidFill>
                  <a:srgbClr val="0F172A"/>
                </a:solidFill>
                <a:latin typeface="Helvetica Neue"/>
              </a:rPr>
              <a:t>Clean code: names, size, honest errors, no duplication?</a:t>
            </a:r>
          </a:p>
          <a:p>
            <a:pPr algn="l">
              <a:lnSpc>
                <a:spcPct val="115000"/>
              </a:lnSpc>
              <a:spcBef>
                <a:spcPts val="0"/>
              </a:spcBef>
              <a:spcAft>
                <a:spcPts val="1300"/>
              </a:spcAft>
            </a:pPr>
            <a:r>
              <a:rPr sz="1900" b="1" i="0">
                <a:solidFill>
                  <a:srgbClr val="F59E0B"/>
                </a:solidFill>
                <a:latin typeface="Helvetica Neue"/>
              </a:rPr>
              <a:t>—  </a:t>
            </a:r>
            <a:r>
              <a:rPr sz="1900" b="0" i="0">
                <a:solidFill>
                  <a:srgbClr val="0F172A"/>
                </a:solidFill>
                <a:latin typeface="Helvetica Neue"/>
              </a:rPr>
              <a:t>Security &amp; tests: validated inputs, covered edge cases?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59E0B"/>
                </a:solidFill>
                <a:latin typeface="Helvetica Neue"/>
              </a:rPr>
              <a:t>Control</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How a Pull Request Works</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15</a:t>
            </a:r>
          </a:p>
        </p:txBody>
      </p:sp>
      <p:sp>
        <p:nvSpPr>
          <p:cNvPr id="8" name="TextBox 7"/>
          <p:cNvSpPr txBox="1"/>
          <p:nvPr/>
        </p:nvSpPr>
        <p:spPr>
          <a:xfrm>
            <a:off x="822960" y="169164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1700" b="0" i="0">
                <a:solidFill>
                  <a:srgbClr val="475569"/>
                </a:solidFill>
                <a:latin typeface="Helvetica Neue"/>
              </a:rPr>
              <a:t>The agent’s changes reach you as a pull request — a proposal to merge a branch, reviewed before it lands. Nothing changes in main until you approve.</a:t>
            </a:r>
          </a:p>
        </p:txBody>
      </p:sp>
      <p:sp>
        <p:nvSpPr>
          <p:cNvPr id="9" name="Rounded Rectangle 8"/>
          <p:cNvSpPr/>
          <p:nvPr/>
        </p:nvSpPr>
        <p:spPr>
          <a:xfrm>
            <a:off x="822960" y="2606040"/>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606040"/>
            <a:ext cx="128016" cy="71323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606040"/>
            <a:ext cx="10058400" cy="713232"/>
          </a:xfrm>
          <a:prstGeom prst="rect">
            <a:avLst/>
          </a:prstGeom>
          <a:noFill/>
        </p:spPr>
        <p:txBody>
          <a:bodyPr wrap="square" anchor="ctr" lIns="0" rIns="0" tIns="0" bIns="0">
            <a:spAutoFit/>
          </a:bodyPr>
          <a:lstStyle/>
          <a:p>
            <a:pPr algn="l">
              <a:lnSpc>
                <a:spcPct val="100000"/>
              </a:lnSpc>
              <a:spcBef>
                <a:spcPts val="0"/>
              </a:spcBef>
              <a:spcAft>
                <a:spcPts val="600"/>
              </a:spcAft>
            </a:pPr>
            <a:r>
              <a:rPr sz="1700" b="1" i="0">
                <a:solidFill>
                  <a:srgbClr val="0F172A"/>
                </a:solidFill>
                <a:latin typeface="Helvetica Neue"/>
              </a:rPr>
              <a:t>1 · Branch — the agent works on a branch, never straight on main</a:t>
            </a:r>
          </a:p>
        </p:txBody>
      </p:sp>
      <p:sp>
        <p:nvSpPr>
          <p:cNvPr id="12" name="Rounded Rectangle 11"/>
          <p:cNvSpPr/>
          <p:nvPr/>
        </p:nvSpPr>
        <p:spPr>
          <a:xfrm>
            <a:off x="822960" y="3447288"/>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3447288"/>
            <a:ext cx="128016"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447288"/>
            <a:ext cx="10058400" cy="713232"/>
          </a:xfrm>
          <a:prstGeom prst="rect">
            <a:avLst/>
          </a:prstGeom>
          <a:noFill/>
        </p:spPr>
        <p:txBody>
          <a:bodyPr wrap="square" anchor="ctr" lIns="0" rIns="0" tIns="0" bIns="0">
            <a:spAutoFit/>
          </a:bodyPr>
          <a:lstStyle/>
          <a:p>
            <a:pPr algn="l">
              <a:lnSpc>
                <a:spcPct val="100000"/>
              </a:lnSpc>
              <a:spcBef>
                <a:spcPts val="0"/>
              </a:spcBef>
              <a:spcAft>
                <a:spcPts val="600"/>
              </a:spcAft>
            </a:pPr>
            <a:r>
              <a:rPr sz="1700" b="1" i="0">
                <a:solidFill>
                  <a:srgbClr val="0F172A"/>
                </a:solidFill>
                <a:latin typeface="Helvetica Neue"/>
              </a:rPr>
              <a:t>2 · Open PR — it proposes: “merge this branch into main”</a:t>
            </a:r>
          </a:p>
        </p:txBody>
      </p:sp>
      <p:sp>
        <p:nvSpPr>
          <p:cNvPr id="15" name="Rounded Rectangle 14"/>
          <p:cNvSpPr/>
          <p:nvPr/>
        </p:nvSpPr>
        <p:spPr>
          <a:xfrm>
            <a:off x="822960" y="4288536"/>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288536"/>
            <a:ext cx="12801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288536"/>
            <a:ext cx="10058400" cy="713232"/>
          </a:xfrm>
          <a:prstGeom prst="rect">
            <a:avLst/>
          </a:prstGeom>
          <a:noFill/>
        </p:spPr>
        <p:txBody>
          <a:bodyPr wrap="square" anchor="ctr" lIns="0" rIns="0" tIns="0" bIns="0">
            <a:spAutoFit/>
          </a:bodyPr>
          <a:lstStyle/>
          <a:p>
            <a:pPr algn="l">
              <a:lnSpc>
                <a:spcPct val="100000"/>
              </a:lnSpc>
              <a:spcBef>
                <a:spcPts val="0"/>
              </a:spcBef>
              <a:spcAft>
                <a:spcPts val="600"/>
              </a:spcAft>
            </a:pPr>
            <a:r>
              <a:rPr sz="1700" b="1" i="0">
                <a:solidFill>
                  <a:srgbClr val="0F172A"/>
                </a:solidFill>
                <a:latin typeface="Helvetica Neue"/>
              </a:rPr>
              <a:t>3 · Review the diff — read every change; comment, request changes, approve</a:t>
            </a:r>
          </a:p>
        </p:txBody>
      </p:sp>
      <p:sp>
        <p:nvSpPr>
          <p:cNvPr id="18" name="Rounded Rectangle 17"/>
          <p:cNvSpPr/>
          <p:nvPr/>
        </p:nvSpPr>
        <p:spPr>
          <a:xfrm>
            <a:off x="822960" y="5129784"/>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 y="5129784"/>
            <a:ext cx="12801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29784"/>
            <a:ext cx="10058400" cy="713232"/>
          </a:xfrm>
          <a:prstGeom prst="rect">
            <a:avLst/>
          </a:prstGeom>
          <a:noFill/>
        </p:spPr>
        <p:txBody>
          <a:bodyPr wrap="square" anchor="ctr" lIns="0" rIns="0" tIns="0" bIns="0">
            <a:spAutoFit/>
          </a:bodyPr>
          <a:lstStyle/>
          <a:p>
            <a:pPr algn="l">
              <a:lnSpc>
                <a:spcPct val="100000"/>
              </a:lnSpc>
              <a:spcBef>
                <a:spcPts val="0"/>
              </a:spcBef>
              <a:spcAft>
                <a:spcPts val="600"/>
              </a:spcAft>
            </a:pPr>
            <a:r>
              <a:rPr sz="1700" b="1" i="0">
                <a:solidFill>
                  <a:srgbClr val="0F172A"/>
                </a:solidFill>
                <a:latin typeface="Helvetica Neue"/>
              </a:rPr>
              <a:t>4 · Merge — it lands only when you click merge; you are the gate</a:t>
            </a:r>
          </a:p>
        </p:txBody>
      </p:sp>
      <p:sp>
        <p:nvSpPr>
          <p:cNvPr id="21" name="TextBox 20"/>
          <p:cNvSpPr txBox="1"/>
          <p:nvPr/>
        </p:nvSpPr>
        <p:spPr>
          <a:xfrm>
            <a:off x="822960" y="5989320"/>
            <a:ext cx="10515600" cy="365760"/>
          </a:xfrm>
          <a:prstGeom prst="rect">
            <a:avLst/>
          </a:prstGeom>
          <a:noFill/>
        </p:spPr>
        <p:txBody>
          <a:bodyPr wrap="square" anchor="t" lIns="0" rIns="0" tIns="0" bIns="0">
            <a:spAutoFit/>
          </a:bodyPr>
          <a:lstStyle/>
          <a:p>
            <a:pPr algn="l">
              <a:lnSpc>
                <a:spcPct val="100000"/>
              </a:lnSpc>
              <a:spcBef>
                <a:spcPts val="0"/>
              </a:spcBef>
              <a:spcAft>
                <a:spcPts val="600"/>
              </a:spcAft>
            </a:pPr>
            <a:r>
              <a:rPr sz="1500" b="1" i="0">
                <a:solidFill>
                  <a:srgbClr val="64748B"/>
                </a:solidFill>
                <a:latin typeface="Helvetica Neue"/>
              </a:rPr>
              <a:t>Same flow whether the change comes from a teammate or your AI agent — you review, you decide.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59E0B"/>
                </a:solidFill>
                <a:latin typeface="Helvetica Neue"/>
              </a:rPr>
              <a:t>Control</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Guardrails Beat Vigilance</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16</a:t>
            </a:r>
          </a:p>
        </p:txBody>
      </p:sp>
      <p:sp>
        <p:nvSpPr>
          <p:cNvPr id="8" name="Rounded Rectangle 7"/>
          <p:cNvSpPr/>
          <p:nvPr/>
        </p:nvSpPr>
        <p:spPr>
          <a:xfrm>
            <a:off x="822960" y="2926080"/>
            <a:ext cx="5029200" cy="306324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3246120"/>
            <a:ext cx="45720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447288"/>
            <a:ext cx="448056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0F172A"/>
                </a:solidFill>
                <a:latin typeface="Helvetica Neue"/>
              </a:rPr>
              <a:t>Let the machine check</a:t>
            </a:r>
          </a:p>
        </p:txBody>
      </p:sp>
      <p:sp>
        <p:nvSpPr>
          <p:cNvPr id="11" name="TextBox 10"/>
          <p:cNvSpPr txBox="1"/>
          <p:nvPr/>
        </p:nvSpPr>
        <p:spPr>
          <a:xfrm>
            <a:off x="1143000" y="4069080"/>
            <a:ext cx="448056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10B981"/>
                </a:solidFill>
                <a:latin typeface="Helvetica Neue"/>
              </a:rPr>
              <a:t>—  </a:t>
            </a:r>
            <a:r>
              <a:rPr sz="1700" b="0" i="0">
                <a:solidFill>
                  <a:srgbClr val="0F172A"/>
                </a:solidFill>
                <a:latin typeface="Helvetica Neue"/>
              </a:rPr>
              <a:t>Tests — run them every loop</a:t>
            </a:r>
          </a:p>
          <a:p>
            <a:pPr algn="l">
              <a:lnSpc>
                <a:spcPct val="110000"/>
              </a:lnSpc>
              <a:spcBef>
                <a:spcPts val="0"/>
              </a:spcBef>
              <a:spcAft>
                <a:spcPts val="1300"/>
              </a:spcAft>
            </a:pPr>
            <a:r>
              <a:rPr sz="1700" b="1" i="0">
                <a:solidFill>
                  <a:srgbClr val="10B981"/>
                </a:solidFill>
                <a:latin typeface="Helvetica Neue"/>
              </a:rPr>
              <a:t>—  </a:t>
            </a:r>
            <a:r>
              <a:rPr sz="1700" b="0" i="0">
                <a:solidFill>
                  <a:srgbClr val="0F172A"/>
                </a:solidFill>
                <a:latin typeface="Helvetica Neue"/>
              </a:rPr>
              <a:t>Type checks, linters, formatters</a:t>
            </a:r>
          </a:p>
          <a:p>
            <a:pPr algn="l">
              <a:lnSpc>
                <a:spcPct val="110000"/>
              </a:lnSpc>
              <a:spcBef>
                <a:spcPts val="0"/>
              </a:spcBef>
              <a:spcAft>
                <a:spcPts val="1300"/>
              </a:spcAft>
            </a:pPr>
            <a:r>
              <a:rPr sz="1700" b="1" i="0">
                <a:solidFill>
                  <a:srgbClr val="10B981"/>
                </a:solidFill>
                <a:latin typeface="Helvetica Neue"/>
              </a:rPr>
              <a:t>—  </a:t>
            </a:r>
            <a:r>
              <a:rPr sz="1700" b="0" i="0">
                <a:solidFill>
                  <a:srgbClr val="0F172A"/>
                </a:solidFill>
                <a:latin typeface="Helvetica Neue"/>
              </a:rPr>
              <a:t>Security scanners on the diff</a:t>
            </a:r>
          </a:p>
        </p:txBody>
      </p:sp>
      <p:sp>
        <p:nvSpPr>
          <p:cNvPr id="12" name="Rounded Rectangle 11"/>
          <p:cNvSpPr/>
          <p:nvPr/>
        </p:nvSpPr>
        <p:spPr>
          <a:xfrm>
            <a:off x="6080760" y="2926080"/>
            <a:ext cx="5257800" cy="306324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3246120"/>
            <a:ext cx="457200"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447288"/>
            <a:ext cx="4572000" cy="457200"/>
          </a:xfrm>
          <a:prstGeom prst="rect">
            <a:avLst/>
          </a:prstGeom>
          <a:noFill/>
        </p:spPr>
        <p:txBody>
          <a:bodyPr wrap="square" anchor="t" lIns="0" rIns="0" tIns="0" bIns="0">
            <a:spAutoFit/>
          </a:bodyPr>
          <a:lstStyle/>
          <a:p>
            <a:pPr algn="l">
              <a:lnSpc>
                <a:spcPct val="100000"/>
              </a:lnSpc>
              <a:spcBef>
                <a:spcPts val="0"/>
              </a:spcBef>
              <a:spcAft>
                <a:spcPts val="600"/>
              </a:spcAft>
            </a:pPr>
            <a:r>
              <a:rPr sz="2100" b="1" i="0">
                <a:solidFill>
                  <a:srgbClr val="FFFFFF"/>
                </a:solidFill>
                <a:latin typeface="Helvetica Neue"/>
              </a:rPr>
              <a:t>You focus on</a:t>
            </a:r>
          </a:p>
        </p:txBody>
      </p:sp>
      <p:sp>
        <p:nvSpPr>
          <p:cNvPr id="15" name="TextBox 14"/>
          <p:cNvSpPr txBox="1"/>
          <p:nvPr/>
        </p:nvSpPr>
        <p:spPr>
          <a:xfrm>
            <a:off x="6400800" y="4069080"/>
            <a:ext cx="4754880" cy="4206240"/>
          </a:xfrm>
          <a:prstGeom prst="rect">
            <a:avLst/>
          </a:prstGeom>
          <a:noFill/>
        </p:spPr>
        <p:txBody>
          <a:bodyPr wrap="square" anchor="t" lIns="0" rIns="0" tIns="0" bIns="0">
            <a:spAutoFit/>
          </a:bodyPr>
          <a:lstStyle/>
          <a:p>
            <a:pPr algn="l">
              <a:lnSpc>
                <a:spcPct val="110000"/>
              </a:lnSpc>
              <a:spcBef>
                <a:spcPts val="0"/>
              </a:spcBef>
              <a:spcAft>
                <a:spcPts val="1300"/>
              </a:spcAft>
            </a:pPr>
            <a:r>
              <a:rPr sz="1700" b="1" i="0">
                <a:solidFill>
                  <a:srgbClr val="6366F1"/>
                </a:solidFill>
                <a:latin typeface="Helvetica Neue"/>
              </a:rPr>
              <a:t>—  </a:t>
            </a:r>
            <a:r>
              <a:rPr sz="1700" b="0" i="0">
                <a:solidFill>
                  <a:srgbClr val="F1F5F9"/>
                </a:solidFill>
                <a:latin typeface="Helvetica Neue"/>
              </a:rPr>
              <a:t>Is this the right design?</a:t>
            </a:r>
          </a:p>
          <a:p>
            <a:pPr algn="l">
              <a:lnSpc>
                <a:spcPct val="110000"/>
              </a:lnSpc>
              <a:spcBef>
                <a:spcPts val="0"/>
              </a:spcBef>
              <a:spcAft>
                <a:spcPts val="1300"/>
              </a:spcAft>
            </a:pPr>
            <a:r>
              <a:rPr sz="1700" b="1" i="0">
                <a:solidFill>
                  <a:srgbClr val="6366F1"/>
                </a:solidFill>
                <a:latin typeface="Helvetica Neue"/>
              </a:rPr>
              <a:t>—  </a:t>
            </a:r>
            <a:r>
              <a:rPr sz="1700" b="0" i="0">
                <a:solidFill>
                  <a:srgbClr val="F1F5F9"/>
                </a:solidFill>
                <a:latin typeface="Helvetica Neue"/>
              </a:rPr>
              <a:t>Does it meet the real requirement?</a:t>
            </a:r>
          </a:p>
          <a:p>
            <a:pPr algn="l">
              <a:lnSpc>
                <a:spcPct val="110000"/>
              </a:lnSpc>
              <a:spcBef>
                <a:spcPts val="0"/>
              </a:spcBef>
              <a:spcAft>
                <a:spcPts val="1300"/>
              </a:spcAft>
            </a:pPr>
            <a:r>
              <a:rPr sz="1700" b="1" i="0">
                <a:solidFill>
                  <a:srgbClr val="6366F1"/>
                </a:solidFill>
                <a:latin typeface="Helvetica Neue"/>
              </a:rPr>
              <a:t>—  </a:t>
            </a:r>
            <a:r>
              <a:rPr sz="1700" b="0" i="0">
                <a:solidFill>
                  <a:srgbClr val="F1F5F9"/>
                </a:solidFill>
                <a:latin typeface="Helvetica Neue"/>
              </a:rPr>
              <a:t>The costly, architectural decisions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F43F5E"/>
                </a:solidFill>
                <a:latin typeface="Helvetica Neue"/>
              </a:rPr>
              <a:t>Control</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Anti-Patterns to Avoid</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17</a:t>
            </a:r>
          </a:p>
        </p:txBody>
      </p:sp>
      <p:sp>
        <p:nvSpPr>
          <p:cNvPr id="8" name="Rounded Rectangle 7"/>
          <p:cNvSpPr/>
          <p:nvPr/>
        </p:nvSpPr>
        <p:spPr>
          <a:xfrm>
            <a:off x="822960" y="2377440"/>
            <a:ext cx="3334512" cy="27432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15568" y="2670048"/>
            <a:ext cx="457200" cy="10972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2889504"/>
            <a:ext cx="2749295" cy="475488"/>
          </a:xfrm>
          <a:prstGeom prst="rect">
            <a:avLst/>
          </a:prstGeom>
          <a:noFill/>
        </p:spPr>
        <p:txBody>
          <a:bodyPr wrap="square" anchor="t" lIns="0" rIns="0" tIns="0" bIns="0">
            <a:spAutoFit/>
          </a:bodyPr>
          <a:lstStyle/>
          <a:p>
            <a:pPr algn="l">
              <a:lnSpc>
                <a:spcPct val="102000"/>
              </a:lnSpc>
              <a:spcBef>
                <a:spcPts val="0"/>
              </a:spcBef>
              <a:spcAft>
                <a:spcPts val="600"/>
              </a:spcAft>
            </a:pPr>
            <a:r>
              <a:rPr sz="2100" b="1" i="0">
                <a:solidFill>
                  <a:srgbClr val="0F172A"/>
                </a:solidFill>
                <a:latin typeface="Helvetica Neue"/>
              </a:rPr>
              <a:t>Blind acceptance</a:t>
            </a:r>
          </a:p>
        </p:txBody>
      </p:sp>
      <p:sp>
        <p:nvSpPr>
          <p:cNvPr id="11" name="TextBox 10"/>
          <p:cNvSpPr txBox="1"/>
          <p:nvPr/>
        </p:nvSpPr>
        <p:spPr>
          <a:xfrm>
            <a:off x="1115568" y="3493008"/>
            <a:ext cx="2749295" cy="1490472"/>
          </a:xfrm>
          <a:prstGeom prst="rect">
            <a:avLst/>
          </a:prstGeom>
          <a:noFill/>
        </p:spPr>
        <p:txBody>
          <a:bodyPr wrap="square" anchor="t" lIns="0" rIns="0" tIns="0" bIns="0">
            <a:spAutoFit/>
          </a:bodyPr>
          <a:lstStyle/>
          <a:p>
            <a:pPr algn="l">
              <a:lnSpc>
                <a:spcPct val="112000"/>
              </a:lnSpc>
              <a:spcBef>
                <a:spcPts val="0"/>
              </a:spcBef>
              <a:spcAft>
                <a:spcPts val="600"/>
              </a:spcAft>
            </a:pPr>
            <a:r>
              <a:rPr sz="1550" b="0" i="0">
                <a:solidFill>
                  <a:srgbClr val="475569"/>
                </a:solidFill>
                <a:latin typeface="Helvetica Neue"/>
              </a:rPr>
              <a:t>Merging code you don't understand. If you can't review it, don't ship it.</a:t>
            </a:r>
          </a:p>
        </p:txBody>
      </p:sp>
      <p:sp>
        <p:nvSpPr>
          <p:cNvPr id="12" name="Rounded Rectangle 11"/>
          <p:cNvSpPr/>
          <p:nvPr/>
        </p:nvSpPr>
        <p:spPr>
          <a:xfrm>
            <a:off x="4413504" y="2377440"/>
            <a:ext cx="3334512" cy="27432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6112" y="2670048"/>
            <a:ext cx="457200" cy="10972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6112" y="2889504"/>
            <a:ext cx="2749295" cy="475488"/>
          </a:xfrm>
          <a:prstGeom prst="rect">
            <a:avLst/>
          </a:prstGeom>
          <a:noFill/>
        </p:spPr>
        <p:txBody>
          <a:bodyPr wrap="square" anchor="t" lIns="0" rIns="0" tIns="0" bIns="0">
            <a:spAutoFit/>
          </a:bodyPr>
          <a:lstStyle/>
          <a:p>
            <a:pPr algn="l">
              <a:lnSpc>
                <a:spcPct val="102000"/>
              </a:lnSpc>
              <a:spcBef>
                <a:spcPts val="0"/>
              </a:spcBef>
              <a:spcAft>
                <a:spcPts val="600"/>
              </a:spcAft>
            </a:pPr>
            <a:r>
              <a:rPr sz="2100" b="1" i="0">
                <a:solidFill>
                  <a:srgbClr val="0F172A"/>
                </a:solidFill>
                <a:latin typeface="Helvetica Neue"/>
              </a:rPr>
              <a:t>One mega-prompt</a:t>
            </a:r>
          </a:p>
        </p:txBody>
      </p:sp>
      <p:sp>
        <p:nvSpPr>
          <p:cNvPr id="15" name="TextBox 14"/>
          <p:cNvSpPr txBox="1"/>
          <p:nvPr/>
        </p:nvSpPr>
        <p:spPr>
          <a:xfrm>
            <a:off x="4706112" y="3493008"/>
            <a:ext cx="2749295" cy="1490472"/>
          </a:xfrm>
          <a:prstGeom prst="rect">
            <a:avLst/>
          </a:prstGeom>
          <a:noFill/>
        </p:spPr>
        <p:txBody>
          <a:bodyPr wrap="square" anchor="t" lIns="0" rIns="0" tIns="0" bIns="0">
            <a:spAutoFit/>
          </a:bodyPr>
          <a:lstStyle/>
          <a:p>
            <a:pPr algn="l">
              <a:lnSpc>
                <a:spcPct val="112000"/>
              </a:lnSpc>
              <a:spcBef>
                <a:spcPts val="0"/>
              </a:spcBef>
              <a:spcAft>
                <a:spcPts val="600"/>
              </a:spcAft>
            </a:pPr>
            <a:r>
              <a:rPr sz="1550" b="0" i="0">
                <a:solidFill>
                  <a:srgbClr val="475569"/>
                </a:solidFill>
                <a:latin typeface="Helvetica Neue"/>
              </a:rPr>
              <a:t>Asking for everything at once. Work in small, reviewable steps.</a:t>
            </a:r>
          </a:p>
        </p:txBody>
      </p:sp>
      <p:sp>
        <p:nvSpPr>
          <p:cNvPr id="16" name="Rounded Rectangle 15"/>
          <p:cNvSpPr/>
          <p:nvPr/>
        </p:nvSpPr>
        <p:spPr>
          <a:xfrm>
            <a:off x="8004048" y="2377440"/>
            <a:ext cx="3334512" cy="27432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96656" y="2670048"/>
            <a:ext cx="457200" cy="109728"/>
          </a:xfrm>
          <a:prstGeom prst="rect">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2889504"/>
            <a:ext cx="2749295" cy="475488"/>
          </a:xfrm>
          <a:prstGeom prst="rect">
            <a:avLst/>
          </a:prstGeom>
          <a:noFill/>
        </p:spPr>
        <p:txBody>
          <a:bodyPr wrap="square" anchor="t" lIns="0" rIns="0" tIns="0" bIns="0">
            <a:spAutoFit/>
          </a:bodyPr>
          <a:lstStyle/>
          <a:p>
            <a:pPr algn="l">
              <a:lnSpc>
                <a:spcPct val="102000"/>
              </a:lnSpc>
              <a:spcBef>
                <a:spcPts val="0"/>
              </a:spcBef>
              <a:spcAft>
                <a:spcPts val="600"/>
              </a:spcAft>
            </a:pPr>
            <a:r>
              <a:rPr sz="2100" b="1" i="0">
                <a:solidFill>
                  <a:srgbClr val="0F172A"/>
                </a:solidFill>
                <a:latin typeface="Helvetica Neue"/>
              </a:rPr>
              <a:t>Losing the thread</a:t>
            </a:r>
          </a:p>
        </p:txBody>
      </p:sp>
      <p:sp>
        <p:nvSpPr>
          <p:cNvPr id="19" name="TextBox 18"/>
          <p:cNvSpPr txBox="1"/>
          <p:nvPr/>
        </p:nvSpPr>
        <p:spPr>
          <a:xfrm>
            <a:off x="8296656" y="3493008"/>
            <a:ext cx="2749295" cy="1490472"/>
          </a:xfrm>
          <a:prstGeom prst="rect">
            <a:avLst/>
          </a:prstGeom>
          <a:noFill/>
        </p:spPr>
        <p:txBody>
          <a:bodyPr wrap="square" anchor="t" lIns="0" rIns="0" tIns="0" bIns="0">
            <a:spAutoFit/>
          </a:bodyPr>
          <a:lstStyle/>
          <a:p>
            <a:pPr algn="l">
              <a:lnSpc>
                <a:spcPct val="112000"/>
              </a:lnSpc>
              <a:spcBef>
                <a:spcPts val="0"/>
              </a:spcBef>
              <a:spcAft>
                <a:spcPts val="600"/>
              </a:spcAft>
            </a:pPr>
            <a:r>
              <a:rPr sz="1550" b="0" i="0">
                <a:solidFill>
                  <a:srgbClr val="475569"/>
                </a:solidFill>
                <a:latin typeface="Helvetica Neue"/>
              </a:rPr>
              <a:t>Letting the agent drift. You hold the goal and the standards.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22D3EE"/>
                </a:solidFill>
                <a:latin typeface="Helvetica Neue"/>
              </a:rPr>
              <a:t>Over to you</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Can You Outsource the Thinking?</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18</a:t>
            </a:r>
          </a:p>
        </p:txBody>
      </p:sp>
      <p:sp>
        <p:nvSpPr>
          <p:cNvPr id="8" name="Rounded Rectangle 7"/>
          <p:cNvSpPr/>
          <p:nvPr/>
        </p:nvSpPr>
        <p:spPr>
          <a:xfrm>
            <a:off x="822960" y="1737360"/>
            <a:ext cx="10515600" cy="14173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737360"/>
            <a:ext cx="128016" cy="141732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874519"/>
            <a:ext cx="9692640" cy="914400"/>
          </a:xfrm>
          <a:prstGeom prst="rect">
            <a:avLst/>
          </a:prstGeom>
          <a:noFill/>
        </p:spPr>
        <p:txBody>
          <a:bodyPr wrap="square" anchor="t" lIns="0" rIns="0" tIns="0" bIns="0">
            <a:spAutoFit/>
          </a:bodyPr>
          <a:lstStyle/>
          <a:p>
            <a:pPr algn="l">
              <a:lnSpc>
                <a:spcPct val="112000"/>
              </a:lnSpc>
              <a:spcBef>
                <a:spcPts val="0"/>
              </a:spcBef>
              <a:spcAft>
                <a:spcPts val="600"/>
              </a:spcAft>
            </a:pPr>
            <a:r>
              <a:rPr sz="2500" b="0" i="1">
                <a:solidFill>
                  <a:srgbClr val="0F172A"/>
                </a:solidFill>
                <a:latin typeface="Helvetica Neue"/>
              </a:rPr>
              <a:t>“you can outsource your thinking</a:t>
            </a:r>
          </a:p>
          <a:p>
            <a:pPr algn="l">
              <a:lnSpc>
                <a:spcPct val="112000"/>
              </a:lnSpc>
              <a:spcBef>
                <a:spcPts val="0"/>
              </a:spcBef>
              <a:spcAft>
                <a:spcPts val="600"/>
              </a:spcAft>
            </a:pPr>
            <a:r>
              <a:rPr sz="2500" b="0" i="1">
                <a:solidFill>
                  <a:srgbClr val="0F172A"/>
                </a:solidFill>
                <a:latin typeface="Helvetica Neue"/>
              </a:rPr>
              <a:t>  but you cannot outsource your understanding”</a:t>
            </a:r>
          </a:p>
        </p:txBody>
      </p:sp>
      <p:sp>
        <p:nvSpPr>
          <p:cNvPr id="11" name="TextBox 10"/>
          <p:cNvSpPr txBox="1"/>
          <p:nvPr/>
        </p:nvSpPr>
        <p:spPr>
          <a:xfrm>
            <a:off x="1371600" y="2761488"/>
            <a:ext cx="9692640" cy="292608"/>
          </a:xfrm>
          <a:prstGeom prst="rect">
            <a:avLst/>
          </a:prstGeom>
          <a:noFill/>
        </p:spPr>
        <p:txBody>
          <a:bodyPr wrap="square" anchor="t" lIns="0" rIns="0" tIns="0" bIns="0">
            <a:spAutoFit/>
          </a:bodyPr>
          <a:lstStyle/>
          <a:p>
            <a:pPr algn="l">
              <a:lnSpc>
                <a:spcPct val="100000"/>
              </a:lnSpc>
              <a:spcBef>
                <a:spcPts val="0"/>
              </a:spcBef>
              <a:spcAft>
                <a:spcPts val="600"/>
              </a:spcAft>
            </a:pPr>
            <a:r>
              <a:rPr sz="1300" b="0" i="1">
                <a:solidFill>
                  <a:srgbClr val="64748B"/>
                </a:solidFill>
                <a:latin typeface="Helvetica Neue"/>
              </a:rPr>
              <a:t>— @yacineMTB (kache), cited by Andrej Karpathy</a:t>
            </a:r>
          </a:p>
        </p:txBody>
      </p:sp>
      <p:sp>
        <p:nvSpPr>
          <p:cNvPr id="12" name="TextBox 11"/>
          <p:cNvSpPr txBox="1"/>
          <p:nvPr/>
        </p:nvSpPr>
        <p:spPr>
          <a:xfrm>
            <a:off x="822960" y="3429000"/>
            <a:ext cx="6675120" cy="1188720"/>
          </a:xfrm>
          <a:prstGeom prst="rect">
            <a:avLst/>
          </a:prstGeom>
          <a:noFill/>
        </p:spPr>
        <p:txBody>
          <a:bodyPr wrap="square" anchor="t" lIns="0" rIns="0" tIns="0" bIns="0">
            <a:spAutoFit/>
          </a:bodyPr>
          <a:lstStyle/>
          <a:p>
            <a:pPr algn="l">
              <a:lnSpc>
                <a:spcPct val="125000"/>
              </a:lnSpc>
              <a:spcBef>
                <a:spcPts val="0"/>
              </a:spcBef>
              <a:spcAft>
                <a:spcPts val="600"/>
              </a:spcAft>
            </a:pPr>
            <a:r>
              <a:rPr sz="1900" b="1" i="0">
                <a:solidFill>
                  <a:srgbClr val="0F172A"/>
                </a:solidFill>
                <a:latin typeface="Helvetica Neue"/>
              </a:rPr>
              <a:t>But can the two be separated at all?</a:t>
            </a:r>
          </a:p>
          <a:p>
            <a:pPr algn="l">
              <a:lnSpc>
                <a:spcPct val="125000"/>
              </a:lnSpc>
              <a:spcBef>
                <a:spcPts val="0"/>
              </a:spcBef>
              <a:spcAft>
                <a:spcPts val="600"/>
              </a:spcAft>
            </a:pPr>
            <a:r>
              <a:rPr sz="1700" b="0" i="0">
                <a:solidFill>
                  <a:srgbClr val="475569"/>
                </a:solidFill>
                <a:latin typeface="Helvetica Neue"/>
              </a:rPr>
              <a:t>If the agent did the thinking, where did your understanding come from?</a:t>
            </a:r>
          </a:p>
        </p:txBody>
      </p:sp>
      <p:sp>
        <p:nvSpPr>
          <p:cNvPr id="13" name="TextBox 12"/>
          <p:cNvSpPr txBox="1"/>
          <p:nvPr/>
        </p:nvSpPr>
        <p:spPr>
          <a:xfrm>
            <a:off x="822960" y="4983480"/>
            <a:ext cx="6675120" cy="457200"/>
          </a:xfrm>
          <a:prstGeom prst="rect">
            <a:avLst/>
          </a:prstGeom>
          <a:noFill/>
        </p:spPr>
        <p:txBody>
          <a:bodyPr wrap="square" anchor="t" lIns="0" rIns="0" tIns="0" bIns="0">
            <a:spAutoFit/>
          </a:bodyPr>
          <a:lstStyle/>
          <a:p>
            <a:pPr algn="l">
              <a:lnSpc>
                <a:spcPct val="100000"/>
              </a:lnSpc>
              <a:spcBef>
                <a:spcPts val="0"/>
              </a:spcBef>
              <a:spcAft>
                <a:spcPts val="600"/>
              </a:spcAft>
            </a:pPr>
            <a:r>
              <a:rPr sz="2200" b="1" i="0">
                <a:solidFill>
                  <a:srgbClr val="22D3EE"/>
                </a:solidFill>
                <a:latin typeface="Helvetica Neue"/>
              </a:rPr>
              <a:t>→  What do you think?</a:t>
            </a:r>
          </a:p>
        </p:txBody>
      </p:sp>
      <p:pic>
        <p:nvPicPr>
          <p:cNvPr id="14" name="Picture 13" descr="karpathy-quote.png"/>
          <p:cNvPicPr>
            <a:picLocks noChangeAspect="1"/>
          </p:cNvPicPr>
          <p:nvPr/>
        </p:nvPicPr>
        <p:blipFill>
          <a:blip r:embed="rId2"/>
          <a:stretch>
            <a:fillRect/>
          </a:stretch>
        </p:blipFill>
        <p:spPr>
          <a:xfrm>
            <a:off x="7863840" y="3566160"/>
            <a:ext cx="3383280" cy="1741604"/>
          </a:xfrm>
          <a:prstGeom prst="rect">
            <a:avLst/>
          </a:prstGeom>
        </p:spPr>
      </p:pic>
      <p:sp>
        <p:nvSpPr>
          <p:cNvPr id="15" name="TextBox 14"/>
          <p:cNvSpPr txBox="1"/>
          <p:nvPr/>
        </p:nvSpPr>
        <p:spPr>
          <a:xfrm>
            <a:off x="822960" y="5486400"/>
            <a:ext cx="10515600" cy="320040"/>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64748B"/>
                </a:solidFill>
                <a:latin typeface="Helvetica Neue"/>
              </a:rPr>
              <a:t>the original post  →  </a:t>
            </a:r>
            <a:r>
              <a:rPr sz="1300" b="0" i="0">
                <a:solidFill>
                  <a:srgbClr val="64748B"/>
                </a:solidFill>
                <a:latin typeface="Menlo"/>
              </a:rPr>
              <a:t>x.com/karpathy/status/2049907410303865030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10B981"/>
                </a:solidFill>
                <a:latin typeface="Helvetica Neue"/>
              </a:rPr>
              <a:t>Remember these</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Key Takeaways</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19</a:t>
            </a:r>
          </a:p>
        </p:txBody>
      </p:sp>
      <p:sp>
        <p:nvSpPr>
          <p:cNvPr id="8" name="Rounded Rectangle 7"/>
          <p:cNvSpPr/>
          <p:nvPr/>
        </p:nvSpPr>
        <p:spPr>
          <a:xfrm>
            <a:off x="822960" y="1965960"/>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1965960"/>
            <a:ext cx="109728"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965960"/>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10B981"/>
                </a:solidFill>
                <a:latin typeface="Helvetica Neue"/>
              </a:rPr>
              <a:t>✓</a:t>
            </a:r>
          </a:p>
        </p:txBody>
      </p:sp>
      <p:sp>
        <p:nvSpPr>
          <p:cNvPr id="11" name="TextBox 10"/>
          <p:cNvSpPr txBox="1"/>
          <p:nvPr/>
        </p:nvSpPr>
        <p:spPr>
          <a:xfrm>
            <a:off x="1783080" y="1965960"/>
            <a:ext cx="9326880" cy="713232"/>
          </a:xfrm>
          <a:prstGeom prst="rect">
            <a:avLst/>
          </a:prstGeom>
          <a:noFill/>
        </p:spPr>
        <p:txBody>
          <a:bodyPr wrap="square" anchor="ctr" lIns="0" rIns="0" tIns="0" bIns="0">
            <a:spAutoFit/>
          </a:bodyPr>
          <a:lstStyle/>
          <a:p>
            <a:pPr algn="l">
              <a:lnSpc>
                <a:spcPct val="100000"/>
              </a:lnSpc>
              <a:spcBef>
                <a:spcPts val="0"/>
              </a:spcBef>
              <a:spcAft>
                <a:spcPts val="600"/>
              </a:spcAft>
            </a:pPr>
            <a:r>
              <a:rPr sz="1800" b="0" i="0">
                <a:solidFill>
                  <a:srgbClr val="0F172A"/>
                </a:solidFill>
                <a:latin typeface="Helvetica Neue"/>
              </a:rPr>
              <a:t>An agent acts in a loop: plan, edit, run, observe, correct.</a:t>
            </a:r>
          </a:p>
        </p:txBody>
      </p:sp>
      <p:sp>
        <p:nvSpPr>
          <p:cNvPr id="12" name="Rounded Rectangle 11"/>
          <p:cNvSpPr/>
          <p:nvPr/>
        </p:nvSpPr>
        <p:spPr>
          <a:xfrm>
            <a:off x="822960" y="2807208"/>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2807208"/>
            <a:ext cx="109728"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807208"/>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10B981"/>
                </a:solidFill>
                <a:latin typeface="Helvetica Neue"/>
              </a:rPr>
              <a:t>✓</a:t>
            </a:r>
          </a:p>
        </p:txBody>
      </p:sp>
      <p:sp>
        <p:nvSpPr>
          <p:cNvPr id="15" name="TextBox 14"/>
          <p:cNvSpPr txBox="1"/>
          <p:nvPr/>
        </p:nvSpPr>
        <p:spPr>
          <a:xfrm>
            <a:off x="1783080" y="2807208"/>
            <a:ext cx="9326880" cy="713232"/>
          </a:xfrm>
          <a:prstGeom prst="rect">
            <a:avLst/>
          </a:prstGeom>
          <a:noFill/>
        </p:spPr>
        <p:txBody>
          <a:bodyPr wrap="square" anchor="ctr" lIns="0" rIns="0" tIns="0" bIns="0">
            <a:spAutoFit/>
          </a:bodyPr>
          <a:lstStyle/>
          <a:p>
            <a:pPr algn="l">
              <a:lnSpc>
                <a:spcPct val="100000"/>
              </a:lnSpc>
              <a:spcBef>
                <a:spcPts val="0"/>
              </a:spcBef>
              <a:spcAft>
                <a:spcPts val="600"/>
              </a:spcAft>
            </a:pPr>
            <a:r>
              <a:rPr sz="1800" b="0" i="0">
                <a:solidFill>
                  <a:srgbClr val="0F172A"/>
                </a:solidFill>
                <a:latin typeface="Helvetica Neue"/>
              </a:rPr>
              <a:t>Work the loop: intent → plan → build → review, in small steps.</a:t>
            </a:r>
          </a:p>
        </p:txBody>
      </p:sp>
      <p:sp>
        <p:nvSpPr>
          <p:cNvPr id="16" name="Rounded Rectangle 15"/>
          <p:cNvSpPr/>
          <p:nvPr/>
        </p:nvSpPr>
        <p:spPr>
          <a:xfrm>
            <a:off x="822960" y="3648456"/>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648456"/>
            <a:ext cx="109728"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648456"/>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10B981"/>
                </a:solidFill>
                <a:latin typeface="Helvetica Neue"/>
              </a:rPr>
              <a:t>✓</a:t>
            </a:r>
          </a:p>
        </p:txBody>
      </p:sp>
      <p:sp>
        <p:nvSpPr>
          <p:cNvPr id="19" name="TextBox 18"/>
          <p:cNvSpPr txBox="1"/>
          <p:nvPr/>
        </p:nvSpPr>
        <p:spPr>
          <a:xfrm>
            <a:off x="1783080" y="3648456"/>
            <a:ext cx="9326880" cy="713232"/>
          </a:xfrm>
          <a:prstGeom prst="rect">
            <a:avLst/>
          </a:prstGeom>
          <a:noFill/>
        </p:spPr>
        <p:txBody>
          <a:bodyPr wrap="square" anchor="ctr" lIns="0" rIns="0" tIns="0" bIns="0">
            <a:spAutoFit/>
          </a:bodyPr>
          <a:lstStyle/>
          <a:p>
            <a:pPr algn="l">
              <a:lnSpc>
                <a:spcPct val="100000"/>
              </a:lnSpc>
              <a:spcBef>
                <a:spcPts val="0"/>
              </a:spcBef>
              <a:spcAft>
                <a:spcPts val="600"/>
              </a:spcAft>
            </a:pPr>
            <a:r>
              <a:rPr sz="1800" b="0" i="0">
                <a:solidFill>
                  <a:srgbClr val="0F172A"/>
                </a:solidFill>
                <a:latin typeface="Helvetica Neue"/>
              </a:rPr>
              <a:t>Prompt for design; engineer the context; ask for alternatives.</a:t>
            </a:r>
          </a:p>
        </p:txBody>
      </p:sp>
      <p:sp>
        <p:nvSpPr>
          <p:cNvPr id="20" name="Rounded Rectangle 19"/>
          <p:cNvSpPr/>
          <p:nvPr/>
        </p:nvSpPr>
        <p:spPr>
          <a:xfrm>
            <a:off x="822960" y="4489704"/>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4489704"/>
            <a:ext cx="109728"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489704"/>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10B981"/>
                </a:solidFill>
                <a:latin typeface="Helvetica Neue"/>
              </a:rPr>
              <a:t>✓</a:t>
            </a:r>
          </a:p>
        </p:txBody>
      </p:sp>
      <p:sp>
        <p:nvSpPr>
          <p:cNvPr id="23" name="TextBox 22"/>
          <p:cNvSpPr txBox="1"/>
          <p:nvPr/>
        </p:nvSpPr>
        <p:spPr>
          <a:xfrm>
            <a:off x="1783080" y="4489704"/>
            <a:ext cx="9326880" cy="713232"/>
          </a:xfrm>
          <a:prstGeom prst="rect">
            <a:avLst/>
          </a:prstGeom>
          <a:noFill/>
        </p:spPr>
        <p:txBody>
          <a:bodyPr wrap="square" anchor="ctr" lIns="0" rIns="0" tIns="0" bIns="0">
            <a:spAutoFit/>
          </a:bodyPr>
          <a:lstStyle/>
          <a:p>
            <a:pPr algn="l">
              <a:lnSpc>
                <a:spcPct val="100000"/>
              </a:lnSpc>
              <a:spcBef>
                <a:spcPts val="0"/>
              </a:spcBef>
              <a:spcAft>
                <a:spcPts val="600"/>
              </a:spcAft>
            </a:pPr>
            <a:r>
              <a:rPr sz="1800" b="0" i="0">
                <a:solidFill>
                  <a:srgbClr val="0F172A"/>
                </a:solidFill>
                <a:latin typeface="Helvetica Neue"/>
              </a:rPr>
              <a:t>Review AI output with cohesion, coupling, SOLID, clean-code and security.</a:t>
            </a:r>
          </a:p>
        </p:txBody>
      </p:sp>
      <p:sp>
        <p:nvSpPr>
          <p:cNvPr id="24" name="Rounded Rectangle 23"/>
          <p:cNvSpPr/>
          <p:nvPr/>
        </p:nvSpPr>
        <p:spPr>
          <a:xfrm>
            <a:off x="822960" y="5330952"/>
            <a:ext cx="10515600" cy="71323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5330952"/>
            <a:ext cx="109728"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5330952"/>
            <a:ext cx="548640" cy="713232"/>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10B981"/>
                </a:solidFill>
                <a:latin typeface="Helvetica Neue"/>
              </a:rPr>
              <a:t>✓</a:t>
            </a:r>
          </a:p>
        </p:txBody>
      </p:sp>
      <p:sp>
        <p:nvSpPr>
          <p:cNvPr id="27" name="TextBox 26"/>
          <p:cNvSpPr txBox="1"/>
          <p:nvPr/>
        </p:nvSpPr>
        <p:spPr>
          <a:xfrm>
            <a:off x="1783080" y="5330952"/>
            <a:ext cx="9326880" cy="713232"/>
          </a:xfrm>
          <a:prstGeom prst="rect">
            <a:avLst/>
          </a:prstGeom>
          <a:noFill/>
        </p:spPr>
        <p:txBody>
          <a:bodyPr wrap="square" anchor="ctr" lIns="0" rIns="0" tIns="0" bIns="0">
            <a:spAutoFit/>
          </a:bodyPr>
          <a:lstStyle/>
          <a:p>
            <a:pPr algn="l">
              <a:lnSpc>
                <a:spcPct val="100000"/>
              </a:lnSpc>
              <a:spcBef>
                <a:spcPts val="0"/>
              </a:spcBef>
              <a:spcAft>
                <a:spcPts val="600"/>
              </a:spcAft>
            </a:pPr>
            <a:r>
              <a:rPr sz="1800" b="0" i="0">
                <a:solidFill>
                  <a:srgbClr val="0F172A"/>
                </a:solidFill>
                <a:latin typeface="Helvetica Neue"/>
              </a:rPr>
              <a:t>The agent is fast; you are the decision-maker and the reviewer.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Go deeper</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Further Reading</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20</a:t>
            </a:r>
          </a:p>
        </p:txBody>
      </p:sp>
      <p:sp>
        <p:nvSpPr>
          <p:cNvPr id="8" name="TextBox 7"/>
          <p:cNvSpPr txBox="1"/>
          <p:nvPr/>
        </p:nvSpPr>
        <p:spPr>
          <a:xfrm>
            <a:off x="822960" y="1691640"/>
            <a:ext cx="10515600" cy="1188720"/>
          </a:xfrm>
          <a:prstGeom prst="rect">
            <a:avLst/>
          </a:prstGeom>
          <a:noFill/>
        </p:spPr>
        <p:txBody>
          <a:bodyPr wrap="square" anchor="t" lIns="0" rIns="0" tIns="0" bIns="0">
            <a:spAutoFit/>
          </a:bodyPr>
          <a:lstStyle/>
          <a:p>
            <a:pPr algn="l">
              <a:lnSpc>
                <a:spcPct val="118000"/>
              </a:lnSpc>
              <a:spcBef>
                <a:spcPts val="0"/>
              </a:spcBef>
              <a:spcAft>
                <a:spcPts val="600"/>
              </a:spcAft>
            </a:pPr>
            <a:r>
              <a:rPr sz="1800" b="0" i="0">
                <a:solidFill>
                  <a:srgbClr val="475569"/>
                </a:solidFill>
                <a:latin typeface="Helvetica Neue"/>
              </a:rPr>
              <a:t>This chapter moves faster than publishing does — books for the method, primary sources for what changed this month.</a:t>
            </a:r>
          </a:p>
        </p:txBody>
      </p:sp>
      <p:sp>
        <p:nvSpPr>
          <p:cNvPr id="9" name="Rounded Rectangle 8"/>
          <p:cNvSpPr/>
          <p:nvPr/>
        </p:nvSpPr>
        <p:spPr>
          <a:xfrm>
            <a:off x="822960" y="2240280"/>
            <a:ext cx="10515600" cy="80467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240280"/>
            <a:ext cx="109728" cy="80467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359152"/>
            <a:ext cx="9966960" cy="310896"/>
          </a:xfrm>
          <a:prstGeom prst="rect">
            <a:avLst/>
          </a:prstGeom>
          <a:noFill/>
        </p:spPr>
        <p:txBody>
          <a:bodyPr wrap="none" anchor="t" lIns="0" rIns="0" tIns="0" bIns="0">
            <a:spAutoFit/>
          </a:bodyPr>
          <a:lstStyle/>
          <a:p>
            <a:pPr algn="l">
              <a:lnSpc>
                <a:spcPct val="100000"/>
              </a:lnSpc>
              <a:spcBef>
                <a:spcPts val="0"/>
              </a:spcBef>
              <a:spcAft>
                <a:spcPts val="600"/>
              </a:spcAft>
            </a:pPr>
            <a:r>
              <a:rPr sz="1300" b="1" i="0">
                <a:solidFill>
                  <a:srgbClr val="6366F1"/>
                </a:solidFill>
                <a:latin typeface="Helvetica Neue"/>
              </a:rPr>
              <a:t>📖  </a:t>
            </a:r>
            <a:r>
              <a:rPr sz="1500" b="1" i="0">
                <a:solidFill>
                  <a:srgbClr val="0F172A"/>
                </a:solidFill>
                <a:latin typeface="Helvetica Neue"/>
              </a:rPr>
              <a:t>Beyond Vibe Coding: From Coder to AI-Era Developer</a:t>
            </a:r>
            <a:r>
              <a:rPr sz="1500" b="0" i="0">
                <a:solidFill>
                  <a:srgbClr val="64748B"/>
                </a:solidFill>
                <a:latin typeface="Helvetica Neue"/>
              </a:rPr>
              <a:t>     </a:t>
            </a:r>
            <a:r>
              <a:rPr sz="1250" b="0" i="0">
                <a:solidFill>
                  <a:srgbClr val="64748B"/>
                </a:solidFill>
                <a:latin typeface="Helvetica Neue"/>
              </a:rPr>
              <a:t>Addy Osmani  ·  O’Reilly, 2025</a:t>
            </a:r>
          </a:p>
        </p:txBody>
      </p:sp>
      <p:sp>
        <p:nvSpPr>
          <p:cNvPr id="12" name="TextBox 11"/>
          <p:cNvSpPr txBox="1"/>
          <p:nvPr/>
        </p:nvSpPr>
        <p:spPr>
          <a:xfrm>
            <a:off x="1234440" y="2697480"/>
            <a:ext cx="9966960" cy="310896"/>
          </a:xfrm>
          <a:prstGeom prst="rect">
            <a:avLst/>
          </a:prstGeom>
          <a:noFill/>
        </p:spPr>
        <p:txBody>
          <a:bodyPr wrap="none" anchor="t" lIns="0" rIns="0" tIns="0" bIns="0">
            <a:spAutoFit/>
          </a:bodyPr>
          <a:lstStyle/>
          <a:p>
            <a:pPr algn="l">
              <a:lnSpc>
                <a:spcPct val="100000"/>
              </a:lnSpc>
              <a:spcBef>
                <a:spcPts val="0"/>
              </a:spcBef>
              <a:spcAft>
                <a:spcPts val="600"/>
              </a:spcAft>
            </a:pPr>
            <a:r>
              <a:rPr sz="1300" b="0" i="1">
                <a:solidFill>
                  <a:srgbClr val="475569"/>
                </a:solidFill>
                <a:latin typeface="Helvetica Neue"/>
              </a:rPr>
              <a:t>The closest match to this session: intent-driven workflow, and staying the director of the agent.</a:t>
            </a:r>
          </a:p>
        </p:txBody>
      </p:sp>
      <p:sp>
        <p:nvSpPr>
          <p:cNvPr id="13" name="Rounded Rectangle 12"/>
          <p:cNvSpPr/>
          <p:nvPr/>
        </p:nvSpPr>
        <p:spPr>
          <a:xfrm>
            <a:off x="822960" y="3145536"/>
            <a:ext cx="10515600" cy="804672"/>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3145536"/>
            <a:ext cx="109728" cy="80467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3264408"/>
            <a:ext cx="9966960" cy="310896"/>
          </a:xfrm>
          <a:prstGeom prst="rect">
            <a:avLst/>
          </a:prstGeom>
          <a:noFill/>
        </p:spPr>
        <p:txBody>
          <a:bodyPr wrap="none" anchor="t" lIns="0" rIns="0" tIns="0" bIns="0">
            <a:spAutoFit/>
          </a:bodyPr>
          <a:lstStyle/>
          <a:p>
            <a:pPr algn="l">
              <a:lnSpc>
                <a:spcPct val="100000"/>
              </a:lnSpc>
              <a:spcBef>
                <a:spcPts val="0"/>
              </a:spcBef>
              <a:spcAft>
                <a:spcPts val="600"/>
              </a:spcAft>
            </a:pPr>
            <a:r>
              <a:rPr sz="1300" b="1" i="0">
                <a:solidFill>
                  <a:srgbClr val="6366F1"/>
                </a:solidFill>
                <a:latin typeface="Helvetica Neue"/>
              </a:rPr>
              <a:t>📖  </a:t>
            </a:r>
            <a:r>
              <a:rPr sz="1500" b="1" i="0">
                <a:solidFill>
                  <a:srgbClr val="0F172A"/>
                </a:solidFill>
                <a:latin typeface="Helvetica Neue"/>
              </a:rPr>
              <a:t>AI-Assisted Programming: Better Planning, Coding, Testing, and Deployment</a:t>
            </a:r>
            <a:r>
              <a:rPr sz="1500" b="0" i="0">
                <a:solidFill>
                  <a:srgbClr val="64748B"/>
                </a:solidFill>
                <a:latin typeface="Helvetica Neue"/>
              </a:rPr>
              <a:t>     </a:t>
            </a:r>
            <a:r>
              <a:rPr sz="1250" b="0" i="0">
                <a:solidFill>
                  <a:srgbClr val="64748B"/>
                </a:solidFill>
                <a:latin typeface="Helvetica Neue"/>
              </a:rPr>
              <a:t>Tom Taulli  ·  O’Reilly, 2024</a:t>
            </a:r>
          </a:p>
        </p:txBody>
      </p:sp>
      <p:sp>
        <p:nvSpPr>
          <p:cNvPr id="16" name="TextBox 15"/>
          <p:cNvSpPr txBox="1"/>
          <p:nvPr/>
        </p:nvSpPr>
        <p:spPr>
          <a:xfrm>
            <a:off x="1234440" y="3602736"/>
            <a:ext cx="9966960" cy="310896"/>
          </a:xfrm>
          <a:prstGeom prst="rect">
            <a:avLst/>
          </a:prstGeom>
          <a:noFill/>
        </p:spPr>
        <p:txBody>
          <a:bodyPr wrap="none" anchor="t" lIns="0" rIns="0" tIns="0" bIns="0">
            <a:spAutoFit/>
          </a:bodyPr>
          <a:lstStyle/>
          <a:p>
            <a:pPr algn="l">
              <a:lnSpc>
                <a:spcPct val="100000"/>
              </a:lnSpc>
              <a:spcBef>
                <a:spcPts val="0"/>
              </a:spcBef>
              <a:spcAft>
                <a:spcPts val="600"/>
              </a:spcAft>
            </a:pPr>
            <a:r>
              <a:rPr sz="1300" b="0" i="1">
                <a:solidFill>
                  <a:srgbClr val="475569"/>
                </a:solidFill>
                <a:latin typeface="Helvetica Neue"/>
              </a:rPr>
              <a:t>AI across the whole cycle — planning, coding, testing, docs — with a modular method that suits prompting.</a:t>
            </a:r>
          </a:p>
        </p:txBody>
      </p:sp>
      <p:sp>
        <p:nvSpPr>
          <p:cNvPr id="17" name="TextBox 16"/>
          <p:cNvSpPr txBox="1"/>
          <p:nvPr/>
        </p:nvSpPr>
        <p:spPr>
          <a:xfrm>
            <a:off x="822960" y="4087368"/>
            <a:ext cx="10515600" cy="320040"/>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64748B"/>
                </a:solidFill>
                <a:latin typeface="Helvetica Neue"/>
              </a:rPr>
              <a:t>Anthropic Engineering — “Building Effective Agents”  →  </a:t>
            </a:r>
            <a:r>
              <a:rPr sz="1300" b="0" i="0">
                <a:solidFill>
                  <a:srgbClr val="6366F1"/>
                </a:solidFill>
                <a:latin typeface="Menlo"/>
              </a:rPr>
              <a:t>anthropic.com/engineering</a:t>
            </a:r>
          </a:p>
        </p:txBody>
      </p:sp>
      <p:sp>
        <p:nvSpPr>
          <p:cNvPr id="18" name="TextBox 17"/>
          <p:cNvSpPr txBox="1"/>
          <p:nvPr/>
        </p:nvSpPr>
        <p:spPr>
          <a:xfrm>
            <a:off x="822960" y="4361688"/>
            <a:ext cx="10515600" cy="320040"/>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64748B"/>
                </a:solidFill>
                <a:latin typeface="Helvetica Neue"/>
              </a:rPr>
              <a:t>Claude Code &amp; Agent SDK — the official documentation  →  </a:t>
            </a:r>
            <a:r>
              <a:rPr sz="1300" b="0" i="0">
                <a:solidFill>
                  <a:srgbClr val="6366F1"/>
                </a:solidFill>
                <a:latin typeface="Menlo"/>
              </a:rPr>
              <a:t>docs.claude.com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Next session</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What's Next</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21</a:t>
            </a:r>
          </a:p>
        </p:txBody>
      </p:sp>
      <p:sp>
        <p:nvSpPr>
          <p:cNvPr id="8" name="Rounded Rectangle 7"/>
          <p:cNvSpPr/>
          <p:nvPr/>
        </p:nvSpPr>
        <p:spPr>
          <a:xfrm>
            <a:off x="822960" y="2011680"/>
            <a:ext cx="10515600" cy="3017520"/>
          </a:xfrm>
          <a:prstGeom prst="roundRect">
            <a:avLst>
              <a:gd name="adj" fmla="val 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011680"/>
            <a:ext cx="146304" cy="30175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377440"/>
            <a:ext cx="9601200" cy="45720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22D3EE"/>
                </a:solidFill>
                <a:latin typeface="Helvetica Neue"/>
              </a:rPr>
              <a:t>Module 10 · Saturday 1 August</a:t>
            </a:r>
          </a:p>
        </p:txBody>
      </p:sp>
      <p:sp>
        <p:nvSpPr>
          <p:cNvPr id="11" name="TextBox 10"/>
          <p:cNvSpPr txBox="1"/>
          <p:nvPr/>
        </p:nvSpPr>
        <p:spPr>
          <a:xfrm>
            <a:off x="1280160" y="2834640"/>
            <a:ext cx="9692640" cy="91440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FFFFFF"/>
                </a:solidFill>
                <a:latin typeface="Helvetica Neue"/>
              </a:rPr>
              <a:t>SW Design Project with AI</a:t>
            </a:r>
          </a:p>
        </p:txBody>
      </p:sp>
      <p:sp>
        <p:nvSpPr>
          <p:cNvPr id="12" name="TextBox 11"/>
          <p:cNvSpPr txBox="1"/>
          <p:nvPr/>
        </p:nvSpPr>
        <p:spPr>
          <a:xfrm>
            <a:off x="1280160" y="3886200"/>
            <a:ext cx="9692640" cy="45720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F1F5F9"/>
                </a:solidFill>
                <a:latin typeface="Helvetica Neue"/>
              </a:rPr>
              <a:t>with Akın Kaldıroğlu</a:t>
            </a:r>
          </a:p>
        </p:txBody>
      </p:sp>
      <p:sp>
        <p:nvSpPr>
          <p:cNvPr id="13" name="TextBox 12"/>
          <p:cNvSpPr txBox="1"/>
          <p:nvPr/>
        </p:nvSpPr>
        <p:spPr>
          <a:xfrm>
            <a:off x="1280160" y="4343400"/>
            <a:ext cx="9692640" cy="548640"/>
          </a:xfrm>
          <a:prstGeom prst="rect">
            <a:avLst/>
          </a:prstGeom>
          <a:noFill/>
        </p:spPr>
        <p:txBody>
          <a:bodyPr wrap="square" anchor="t" lIns="0" rIns="0" tIns="0" bIns="0">
            <a:spAutoFit/>
          </a:bodyPr>
          <a:lstStyle/>
          <a:p>
            <a:pPr algn="l">
              <a:lnSpc>
                <a:spcPct val="110000"/>
              </a:lnSpc>
              <a:spcBef>
                <a:spcPts val="0"/>
              </a:spcBef>
              <a:spcAft>
                <a:spcPts val="600"/>
              </a:spcAft>
            </a:pPr>
            <a:r>
              <a:rPr sz="1600" b="0" i="1">
                <a:solidFill>
                  <a:srgbClr val="CBD5E1"/>
                </a:solidFill>
                <a:latin typeface="Helvetica Neue"/>
              </a:rPr>
              <a:t>You'll build a real feature end-to-end with Claude Code — applying every principle and technique from Phase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658368"/>
            <a:ext cx="457200" cy="12801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17320" y="603504"/>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6366F1"/>
                </a:solidFill>
                <a:latin typeface="Helvetica Neue"/>
              </a:rPr>
              <a:t>Further practice</a:t>
            </a:r>
          </a:p>
        </p:txBody>
      </p:sp>
      <p:sp>
        <p:nvSpPr>
          <p:cNvPr id="5" name="TextBox 4"/>
          <p:cNvSpPr txBox="1"/>
          <p:nvPr/>
        </p:nvSpPr>
        <p:spPr>
          <a:xfrm>
            <a:off x="822960" y="896112"/>
            <a:ext cx="10607040" cy="82296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0F172A"/>
                </a:solidFill>
                <a:latin typeface="Helvetica Neue"/>
              </a:rPr>
              <a:t>Drive a Refactoring with AI</a:t>
            </a:r>
          </a:p>
        </p:txBody>
      </p:sp>
      <p:sp>
        <p:nvSpPr>
          <p:cNvPr id="6" name="TextBox 5"/>
          <p:cNvSpPr txBox="1"/>
          <p:nvPr/>
        </p:nvSpPr>
        <p:spPr>
          <a:xfrm>
            <a:off x="822960" y="6382512"/>
            <a:ext cx="9144000" cy="292608"/>
          </a:xfrm>
          <a:prstGeom prst="rect">
            <a:avLst/>
          </a:prstGeom>
          <a:noFill/>
        </p:spPr>
        <p:txBody>
          <a:bodyPr wrap="square" anchor="t" lIns="0" rIns="0" tIns="0" bIns="0">
            <a:spAutoFit/>
          </a:bodyPr>
          <a:lstStyle/>
          <a:p>
            <a:pPr algn="l">
              <a:lnSpc>
                <a:spcPct val="100000"/>
              </a:lnSpc>
              <a:spcBef>
                <a:spcPts val="0"/>
              </a:spcBef>
              <a:spcAft>
                <a:spcPts val="600"/>
              </a:spcAft>
            </a:pPr>
            <a:r>
              <a:rPr sz="900" b="0" i="0">
                <a:solidFill>
                  <a:srgbClr val="64748B"/>
                </a:solidFill>
                <a:latin typeface="Helvetica Neue"/>
              </a:rPr>
              <a:t>Agentic SW Design &amp; Architecture Bootcamp</a:t>
            </a:r>
          </a:p>
        </p:txBody>
      </p:sp>
      <p:sp>
        <p:nvSpPr>
          <p:cNvPr id="7" name="TextBox 6"/>
          <p:cNvSpPr txBox="1"/>
          <p:nvPr/>
        </p:nvSpPr>
        <p:spPr>
          <a:xfrm>
            <a:off x="10515600" y="6382512"/>
            <a:ext cx="850392" cy="292608"/>
          </a:xfrm>
          <a:prstGeom prst="rect">
            <a:avLst/>
          </a:prstGeom>
          <a:noFill/>
        </p:spPr>
        <p:txBody>
          <a:bodyPr wrap="square" anchor="t" lIns="0" rIns="0" tIns="0" bIns="0">
            <a:spAutoFit/>
          </a:bodyPr>
          <a:lstStyle/>
          <a:p>
            <a:pPr algn="r">
              <a:lnSpc>
                <a:spcPct val="100000"/>
              </a:lnSpc>
              <a:spcBef>
                <a:spcPts val="0"/>
              </a:spcBef>
              <a:spcAft>
                <a:spcPts val="600"/>
              </a:spcAft>
            </a:pPr>
            <a:r>
              <a:rPr sz="900" b="0" i="0">
                <a:solidFill>
                  <a:srgbClr val="64748B"/>
                </a:solidFill>
                <a:latin typeface="Helvetica Neue"/>
              </a:rPr>
              <a:t>22</a:t>
            </a:r>
          </a:p>
        </p:txBody>
      </p:sp>
      <p:sp>
        <p:nvSpPr>
          <p:cNvPr id="8" name="TextBox 7"/>
          <p:cNvSpPr txBox="1"/>
          <p:nvPr/>
        </p:nvSpPr>
        <p:spPr>
          <a:xfrm>
            <a:off x="822960" y="1737360"/>
            <a:ext cx="10515600" cy="457200"/>
          </a:xfrm>
          <a:prstGeom prst="rect">
            <a:avLst/>
          </a:prstGeom>
          <a:noFill/>
        </p:spPr>
        <p:txBody>
          <a:bodyPr wrap="square" anchor="t" lIns="0" rIns="0" tIns="0" bIns="0">
            <a:spAutoFit/>
          </a:bodyPr>
          <a:lstStyle/>
          <a:p>
            <a:pPr algn="l">
              <a:lnSpc>
                <a:spcPct val="110000"/>
              </a:lnSpc>
              <a:spcBef>
                <a:spcPts val="0"/>
              </a:spcBef>
              <a:spcAft>
                <a:spcPts val="600"/>
              </a:spcAft>
            </a:pPr>
            <a:r>
              <a:rPr sz="1700" b="0" i="1">
                <a:solidFill>
                  <a:srgbClr val="475569"/>
                </a:solidFill>
                <a:latin typeface="Helvetica Neue"/>
              </a:rPr>
              <a:t>Take the ACME Orders capstone and refactor it end-to-end with an agent — you decide each move, the AI executes it.</a:t>
            </a:r>
          </a:p>
        </p:txBody>
      </p:sp>
      <p:sp>
        <p:nvSpPr>
          <p:cNvPr id="9" name="Rounded Rectangle 8"/>
          <p:cNvSpPr/>
          <p:nvPr/>
        </p:nvSpPr>
        <p:spPr>
          <a:xfrm>
            <a:off x="822960" y="2514600"/>
            <a:ext cx="10515600" cy="233172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2788920"/>
            <a:ext cx="457200" cy="109728"/>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990088"/>
            <a:ext cx="9875520" cy="411480"/>
          </a:xfrm>
          <a:prstGeom prst="rect">
            <a:avLst/>
          </a:prstGeom>
          <a:noFill/>
        </p:spPr>
        <p:txBody>
          <a:bodyPr wrap="none" anchor="t" lIns="0" rIns="0" tIns="0" bIns="0">
            <a:spAutoFit/>
          </a:bodyPr>
          <a:lstStyle/>
          <a:p>
            <a:pPr algn="l">
              <a:lnSpc>
                <a:spcPct val="100000"/>
              </a:lnSpc>
              <a:spcBef>
                <a:spcPts val="0"/>
              </a:spcBef>
              <a:spcAft>
                <a:spcPts val="600"/>
              </a:spcAft>
            </a:pPr>
            <a:r>
              <a:rPr sz="1800" b="1" i="0">
                <a:solidFill>
                  <a:srgbClr val="0F172A"/>
                </a:solidFill>
                <a:latin typeface="Helvetica Neue"/>
              </a:rPr>
              <a:t>Refactoring course · Capstone</a:t>
            </a:r>
          </a:p>
        </p:txBody>
      </p:sp>
      <p:sp>
        <p:nvSpPr>
          <p:cNvPr id="12" name="TextBox 11"/>
          <p:cNvSpPr txBox="1"/>
          <p:nvPr/>
        </p:nvSpPr>
        <p:spPr>
          <a:xfrm>
            <a:off x="1143000" y="3502152"/>
            <a:ext cx="9875520" cy="384048"/>
          </a:xfrm>
          <a:prstGeom prst="rect">
            <a:avLst/>
          </a:prstGeom>
          <a:noFill/>
        </p:spPr>
        <p:txBody>
          <a:bodyPr wrap="none" anchor="ctr" lIns="0" rIns="0" tIns="0" bIns="0">
            <a:spAutoFit/>
          </a:bodyPr>
          <a:lstStyle/>
          <a:p>
            <a:pPr algn="l">
              <a:lnSpc>
                <a:spcPct val="100000"/>
              </a:lnSpc>
              <a:spcBef>
                <a:spcPts val="0"/>
              </a:spcBef>
              <a:spcAft>
                <a:spcPts val="600"/>
              </a:spcAft>
            </a:pPr>
            <a:r>
              <a:rPr sz="1400" b="1" i="0">
                <a:solidFill>
                  <a:srgbClr val="6366F1"/>
                </a:solidFill>
                <a:latin typeface="Helvetica Neue"/>
              </a:rPr>
              <a:t>Repo  </a:t>
            </a:r>
            <a:r>
              <a:rPr sz="1450" b="0" i="0">
                <a:solidFill>
                  <a:srgbClr val="475569"/>
                </a:solidFill>
                <a:latin typeface="Menlo"/>
              </a:rPr>
              <a:t>github.com/kaldiroglu/refactoring-course-student-materials</a:t>
            </a:r>
          </a:p>
        </p:txBody>
      </p:sp>
      <p:sp>
        <p:nvSpPr>
          <p:cNvPr id="13" name="TextBox 12"/>
          <p:cNvSpPr txBox="1"/>
          <p:nvPr/>
        </p:nvSpPr>
        <p:spPr>
          <a:xfrm>
            <a:off x="1143000" y="4014215"/>
            <a:ext cx="9875520" cy="274320"/>
          </a:xfrm>
          <a:prstGeom prst="rect">
            <a:avLst/>
          </a:prstGeom>
          <a:noFill/>
        </p:spPr>
        <p:txBody>
          <a:bodyPr wrap="square" anchor="t" lIns="0" rIns="0" tIns="0" bIns="0">
            <a:spAutoFit/>
          </a:bodyPr>
          <a:lstStyle/>
          <a:p>
            <a:pPr algn="l">
              <a:lnSpc>
                <a:spcPct val="100000"/>
              </a:lnSpc>
              <a:spcBef>
                <a:spcPts val="0"/>
              </a:spcBef>
              <a:spcAft>
                <a:spcPts val="600"/>
              </a:spcAft>
            </a:pPr>
            <a:r>
              <a:rPr sz="1000" b="1" i="0">
                <a:solidFill>
                  <a:srgbClr val="6366F1"/>
                </a:solidFill>
                <a:latin typeface="Helvetica Neue"/>
              </a:rPr>
              <a:t>IN THIS SESSION, LOOK AT</a:t>
            </a:r>
          </a:p>
        </p:txBody>
      </p:sp>
      <p:sp>
        <p:nvSpPr>
          <p:cNvPr id="14" name="TextBox 13"/>
          <p:cNvSpPr txBox="1"/>
          <p:nvPr/>
        </p:nvSpPr>
        <p:spPr>
          <a:xfrm>
            <a:off x="1143000" y="4325112"/>
            <a:ext cx="9875520" cy="292608"/>
          </a:xfrm>
          <a:prstGeom prst="rect">
            <a:avLst/>
          </a:prstGeom>
          <a:noFill/>
        </p:spPr>
        <p:txBody>
          <a:bodyPr wrap="none" anchor="t" lIns="0" rIns="0" tIns="0" bIns="0">
            <a:spAutoFit/>
          </a:bodyPr>
          <a:lstStyle/>
          <a:p>
            <a:pPr algn="l">
              <a:lnSpc>
                <a:spcPct val="100000"/>
              </a:lnSpc>
              <a:spcBef>
                <a:spcPts val="0"/>
              </a:spcBef>
              <a:spcAft>
                <a:spcPts val="600"/>
              </a:spcAft>
            </a:pPr>
            <a:r>
              <a:rPr sz="1350" b="1" i="0">
                <a:solidFill>
                  <a:srgbClr val="6366F1"/>
                </a:solidFill>
                <a:latin typeface="Helvetica Neue"/>
              </a:rPr>
              <a:t>▸  </a:t>
            </a:r>
            <a:r>
              <a:rPr sz="1350" b="0" i="0">
                <a:solidFill>
                  <a:srgbClr val="475569"/>
                </a:solidFill>
                <a:latin typeface="Menlo"/>
              </a:rPr>
              <a:t>Exercises/Capstone-Brief.md</a:t>
            </a:r>
          </a:p>
        </p:txBody>
      </p:sp>
      <p:sp>
        <p:nvSpPr>
          <p:cNvPr id="15" name="TextBox 14"/>
          <p:cNvSpPr txBox="1"/>
          <p:nvPr/>
        </p:nvSpPr>
        <p:spPr>
          <a:xfrm>
            <a:off x="1143000" y="4636007"/>
            <a:ext cx="9875520" cy="292608"/>
          </a:xfrm>
          <a:prstGeom prst="rect">
            <a:avLst/>
          </a:prstGeom>
          <a:noFill/>
        </p:spPr>
        <p:txBody>
          <a:bodyPr wrap="none" anchor="t" lIns="0" rIns="0" tIns="0" bIns="0">
            <a:spAutoFit/>
          </a:bodyPr>
          <a:lstStyle/>
          <a:p>
            <a:pPr algn="l">
              <a:lnSpc>
                <a:spcPct val="100000"/>
              </a:lnSpc>
              <a:spcBef>
                <a:spcPts val="0"/>
              </a:spcBef>
              <a:spcAft>
                <a:spcPts val="600"/>
              </a:spcAft>
            </a:pPr>
            <a:r>
              <a:rPr sz="1350" b="1" i="0">
                <a:solidFill>
                  <a:srgbClr val="6366F1"/>
                </a:solidFill>
                <a:latin typeface="Helvetica Neue"/>
              </a:rPr>
              <a:t>▸  </a:t>
            </a:r>
            <a:r>
              <a:rPr sz="1350" b="0" i="0">
                <a:solidFill>
                  <a:srgbClr val="475569"/>
                </a:solidFill>
                <a:latin typeface="Menlo"/>
              </a:rPr>
              <a:t>Projects/RefactoringCapstone-Java, -CSharp, -Python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377440"/>
            <a:ext cx="146304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2697480"/>
            <a:ext cx="10789920" cy="1097280"/>
          </a:xfrm>
          <a:prstGeom prst="rect">
            <a:avLst/>
          </a:prstGeom>
          <a:noFill/>
        </p:spPr>
        <p:txBody>
          <a:bodyPr wrap="square" anchor="t" lIns="0" rIns="0" tIns="0" bIns="0">
            <a:spAutoFit/>
          </a:bodyPr>
          <a:lstStyle/>
          <a:p>
            <a:pPr algn="l">
              <a:lnSpc>
                <a:spcPct val="100000"/>
              </a:lnSpc>
              <a:spcBef>
                <a:spcPts val="0"/>
              </a:spcBef>
              <a:spcAft>
                <a:spcPts val="600"/>
              </a:spcAft>
            </a:pPr>
            <a:r>
              <a:rPr sz="6000" b="1" i="0">
                <a:solidFill>
                  <a:srgbClr val="FFFFFF"/>
                </a:solidFill>
                <a:latin typeface="Helvetica Neue"/>
              </a:rPr>
              <a:t>Questions?</a:t>
            </a:r>
          </a:p>
        </p:txBody>
      </p:sp>
      <p:sp>
        <p:nvSpPr>
          <p:cNvPr id="6" name="TextBox 5"/>
          <p:cNvSpPr txBox="1"/>
          <p:nvPr/>
        </p:nvSpPr>
        <p:spPr>
          <a:xfrm>
            <a:off x="822960" y="3977639"/>
            <a:ext cx="10607040" cy="640080"/>
          </a:xfrm>
          <a:prstGeom prst="rect">
            <a:avLst/>
          </a:prstGeom>
          <a:noFill/>
        </p:spPr>
        <p:txBody>
          <a:bodyPr wrap="square" anchor="t" lIns="0" rIns="0" tIns="0" bIns="0">
            <a:spAutoFit/>
          </a:bodyPr>
          <a:lstStyle/>
          <a:p>
            <a:pPr algn="l">
              <a:lnSpc>
                <a:spcPct val="100000"/>
              </a:lnSpc>
              <a:spcBef>
                <a:spcPts val="0"/>
              </a:spcBef>
              <a:spcAft>
                <a:spcPts val="600"/>
              </a:spcAft>
            </a:pPr>
            <a:r>
              <a:rPr sz="2200" b="0" i="1">
                <a:solidFill>
                  <a:srgbClr val="CBD5E1"/>
                </a:solidFill>
                <a:latin typeface="Helvetica Neue"/>
              </a:rPr>
              <a:t>Direct the agent. Own the design.</a:t>
            </a:r>
          </a:p>
        </p:txBody>
      </p:sp>
      <p:sp>
        <p:nvSpPr>
          <p:cNvPr id="7" name="TextBox 6"/>
          <p:cNvSpPr txBox="1"/>
          <p:nvPr/>
        </p:nvSpPr>
        <p:spPr>
          <a:xfrm>
            <a:off x="822960" y="5943600"/>
            <a:ext cx="10607040" cy="457200"/>
          </a:xfrm>
          <a:prstGeom prst="rect">
            <a:avLst/>
          </a:prstGeom>
          <a:noFill/>
        </p:spPr>
        <p:txBody>
          <a:bodyPr wrap="square" anchor="t" lIns="0" rIns="0" tIns="0" bIns="0">
            <a:spAutoFit/>
          </a:bodyPr>
          <a:lstStyle/>
          <a:p>
            <a:pPr algn="l">
              <a:lnSpc>
                <a:spcPct val="100000"/>
              </a:lnSpc>
              <a:spcBef>
                <a:spcPts val="0"/>
              </a:spcBef>
              <a:spcAft>
                <a:spcPts val="600"/>
              </a:spcAft>
            </a:pPr>
            <a:r>
              <a:rPr sz="1400" b="0" i="0">
                <a:solidFill>
                  <a:srgbClr val="94A3B8"/>
                </a:solidFill>
                <a:latin typeface="Helvetica Neue"/>
              </a:rPr>
              <a:t>Akın Kaldıroğlu  ·  Agentic Design &amp; 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